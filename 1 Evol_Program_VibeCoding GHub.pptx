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71" r:id="rId14"/>
    <p:sldId id="265" r:id="rId15"/>
    <p:sldId id="272" r:id="rId16"/>
    <p:sldId id="266" r:id="rId17"/>
    <p:sldId id="273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84" y="5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hyperlink" Target="mailto:anastacio.ah@morelia.tecnm.mx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hyperlink" Target="https://code.visualstudio.com/download?_exp_download=d53503e735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survey.stackoverflow.co/2025/ai" TargetMode="External"/><Relationship Id="rId3" Type="http://schemas.openxmlformats.org/officeDocument/2006/relationships/hyperlink" Target="https://www.computerhistory.org/timeline/software-languages/" TargetMode="External"/><Relationship Id="rId7" Type="http://schemas.openxmlformats.org/officeDocument/2006/relationships/hyperlink" Target="https://karpathy.ai/vibe-coding.html" TargetMode="External"/><Relationship Id="rId2" Type="http://schemas.openxmlformats.org/officeDocument/2006/relationships/hyperlink" Target="https://www.ibm.com/history/fortran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github.com/en/copilot/get-started/about-github-copilot" TargetMode="External"/><Relationship Id="rId5" Type="http://schemas.openxmlformats.org/officeDocument/2006/relationships/hyperlink" Target="https://code.visualstudio.com/docs/getstarted/introvideos" TargetMode="External"/><Relationship Id="rId4" Type="http://schemas.openxmlformats.org/officeDocument/2006/relationships/hyperlink" Target="https://docs.python.org/3/tutorial/interpret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38360" y="-777240"/>
            <a:ext cx="3108960" cy="3108960"/>
          </a:xfrm>
          <a:prstGeom prst="ellipse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69880" y="5029200"/>
            <a:ext cx="1828800" cy="1828800"/>
          </a:xfrm>
          <a:prstGeom prst="ellipse">
            <a:avLst/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6400800"/>
            <a:ext cx="5852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Lenguajes · IDE · asistentes · vibe coding</a:t>
            </a:r>
          </a:p>
        </p:txBody>
      </p:sp>
      <p:sp>
        <p:nvSpPr>
          <p:cNvPr id="29" name="CustomShape 1">
            <a:extLst>
              <a:ext uri="{FF2B5EF4-FFF2-40B4-BE49-F238E27FC236}">
                <a16:creationId xmlns:a16="http://schemas.microsoft.com/office/drawing/2014/main" id="{2D573D77-2D84-E6C0-A010-7CDC1AAA7BDF}"/>
              </a:ext>
            </a:extLst>
          </p:cNvPr>
          <p:cNvSpPr/>
          <p:nvPr/>
        </p:nvSpPr>
        <p:spPr>
          <a:xfrm>
            <a:off x="1255461" y="2449339"/>
            <a:ext cx="8697600" cy="1217017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5000" rIns="90000" bIns="45000" anchor="b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5400" b="1" i="0" u="none" strike="noStrike" kern="0" cap="none" spc="-1" normalizeH="0" baseline="0" noProof="0" dirty="0" err="1">
                <a:ln>
                  <a:noFill/>
                </a:ln>
                <a:solidFill>
                  <a:srgbClr val="2F58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Palatino Linotype"/>
              </a:rPr>
              <a:t>Vibe</a:t>
            </a:r>
            <a:r>
              <a:rPr kumimoji="0" lang="es-ES_tradnl" sz="5400" b="1" i="0" u="none" strike="noStrike" kern="0" cap="none" spc="-1" normalizeH="0" baseline="0" noProof="0" dirty="0">
                <a:ln>
                  <a:noFill/>
                </a:ln>
                <a:solidFill>
                  <a:srgbClr val="2F58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Palatino Linotype"/>
              </a:rPr>
              <a:t> </a:t>
            </a:r>
            <a:r>
              <a:rPr kumimoji="0" lang="es-ES_tradnl" sz="5400" b="1" i="0" u="none" strike="noStrike" kern="0" cap="none" spc="-1" normalizeH="0" baseline="0" noProof="0" dirty="0" err="1">
                <a:ln>
                  <a:noFill/>
                </a:ln>
                <a:solidFill>
                  <a:srgbClr val="2F589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Palatino Linotype"/>
              </a:rPr>
              <a:t>Coding</a:t>
            </a:r>
            <a:endParaRPr kumimoji="0" lang="es-MX" sz="5400" b="1" i="0" u="none" strike="noStrike" kern="0" cap="none" spc="-1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/>
            </a:endParaRPr>
          </a:p>
        </p:txBody>
      </p:sp>
      <p:sp>
        <p:nvSpPr>
          <p:cNvPr id="30" name="CustomShape 2">
            <a:extLst>
              <a:ext uri="{FF2B5EF4-FFF2-40B4-BE49-F238E27FC236}">
                <a16:creationId xmlns:a16="http://schemas.microsoft.com/office/drawing/2014/main" id="{E88D404E-8430-41EA-6FFA-DEBF58438168}"/>
              </a:ext>
            </a:extLst>
          </p:cNvPr>
          <p:cNvSpPr/>
          <p:nvPr/>
        </p:nvSpPr>
        <p:spPr>
          <a:xfrm>
            <a:off x="1772279" y="3879422"/>
            <a:ext cx="8697601" cy="632669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5000" rIns="90000" bIns="45000" anchor="t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400" b="1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Dr. Anastacio Antolino Hernández</a:t>
            </a:r>
            <a:r>
              <a:rPr kumimoji="0" lang="es-MX" sz="1800" b="1" i="0" u="none" strike="noStrike" kern="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DejaVu Sans"/>
              </a:rPr>
              <a:t>, 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DejaVu Sans"/>
            </a:endParaRPr>
          </a:p>
        </p:txBody>
      </p:sp>
      <p:pic>
        <p:nvPicPr>
          <p:cNvPr id="31" name="Imagen 6">
            <a:extLst>
              <a:ext uri="{FF2B5EF4-FFF2-40B4-BE49-F238E27FC236}">
                <a16:creationId xmlns:a16="http://schemas.microsoft.com/office/drawing/2014/main" id="{8D8C9CAF-C919-A969-FD9F-847DE9A5632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3686143" y="113777"/>
            <a:ext cx="1181844" cy="1373500"/>
          </a:xfrm>
          <a:prstGeom prst="rect">
            <a:avLst/>
          </a:prstGeom>
          <a:ln>
            <a:noFill/>
          </a:ln>
        </p:spPr>
      </p:pic>
      <p:pic>
        <p:nvPicPr>
          <p:cNvPr id="32" name="Picture 2" descr="Maestría en Sistemas Computacionales">
            <a:extLst>
              <a:ext uri="{FF2B5EF4-FFF2-40B4-BE49-F238E27FC236}">
                <a16:creationId xmlns:a16="http://schemas.microsoft.com/office/drawing/2014/main" id="{790FF153-0A73-F18C-ACC9-5976FF6CA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2304" y="128753"/>
            <a:ext cx="3437237" cy="9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95F7CB13-D43B-B2FC-ED96-AC59FF6F8B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486" y="90581"/>
            <a:ext cx="1592896" cy="1454458"/>
          </a:xfrm>
          <a:prstGeom prst="rect">
            <a:avLst/>
          </a:prstGeom>
        </p:spPr>
      </p:pic>
      <p:sp>
        <p:nvSpPr>
          <p:cNvPr id="35" name="CuadroTexto 34">
            <a:extLst>
              <a:ext uri="{FF2B5EF4-FFF2-40B4-BE49-F238E27FC236}">
                <a16:creationId xmlns:a16="http://schemas.microsoft.com/office/drawing/2014/main" id="{990A79FB-6464-CEB0-D6D9-E41EAEB78495}"/>
              </a:ext>
            </a:extLst>
          </p:cNvPr>
          <p:cNvSpPr txBox="1"/>
          <p:nvPr/>
        </p:nvSpPr>
        <p:spPr>
          <a:xfrm>
            <a:off x="3860017" y="4725158"/>
            <a:ext cx="3864649" cy="987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sng" strike="noStrike" kern="0" cap="none" spc="-1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entury Gothic"/>
                <a:hlinkClick r:id="rId5"/>
              </a:rPr>
              <a:t>anastacio.ah@morelia.tecnm.mx</a:t>
            </a:r>
            <a:endParaRPr kumimoji="0" lang="es-MX" sz="1800" b="1" i="0" u="sng" strike="noStrike" kern="0" cap="none" spc="-1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entury Gothic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b="1" u="sng" kern="0" spc="-1" dirty="0">
                <a:solidFill>
                  <a:srgbClr val="0000FF"/>
                </a:solidFill>
                <a:latin typeface="Century Gothic"/>
              </a:rPr>
              <a:t>antolino@itmorelia.edu.mx</a:t>
            </a:r>
            <a:endParaRPr kumimoji="0" lang="es-MX" sz="1800" b="1" i="0" u="sng" strike="noStrike" kern="0" cap="none" spc="-1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entury Gothic"/>
            </a:endParaRPr>
          </a:p>
          <a:p>
            <a:endParaRPr lang="es-MX" dirty="0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BB7C211-12CF-EF24-A479-8FEF0E28333B}"/>
              </a:ext>
            </a:extLst>
          </p:cNvPr>
          <p:cNvSpPr txBox="1"/>
          <p:nvPr/>
        </p:nvSpPr>
        <p:spPr>
          <a:xfrm>
            <a:off x="5712478" y="17517"/>
            <a:ext cx="270344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D.E.P.I.</a:t>
            </a:r>
          </a:p>
          <a:p>
            <a:pPr algn="ctr"/>
            <a:r>
              <a:rPr lang="es-E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DIVISIÓN DE ESTUDIOS DE POSGRADO E INVESTIGACIÓN</a:t>
            </a:r>
            <a:endParaRPr lang="es-MX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56BE167-FA19-CDFB-3D58-CACE779C03B9}"/>
              </a:ext>
            </a:extLst>
          </p:cNvPr>
          <p:cNvSpPr txBox="1"/>
          <p:nvPr/>
        </p:nvSpPr>
        <p:spPr>
          <a:xfrm>
            <a:off x="9074886" y="6492240"/>
            <a:ext cx="29546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dirty="0"/>
              <a:t>Morelia, </a:t>
            </a:r>
            <a:r>
              <a:rPr lang="es-ES" sz="1400" i="1" dirty="0" err="1"/>
              <a:t>Mich</a:t>
            </a:r>
            <a:r>
              <a:rPr lang="es-ES" sz="1400" i="1" dirty="0"/>
              <a:t>., 20 de octubre de 2026</a:t>
            </a:r>
            <a:endParaRPr lang="es-MX" sz="1400" i="1" dirty="0"/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D92E2531-BB32-E76E-892D-25EED9CA2EE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1224" t="20846" r="21385" b="36351"/>
          <a:stretch/>
        </p:blipFill>
        <p:spPr>
          <a:xfrm>
            <a:off x="3011723" y="4749011"/>
            <a:ext cx="848294" cy="63267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6E75D1DC-A08E-125B-1327-59C36E9819D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699" t="37994" r="15762" b="37535"/>
          <a:stretch/>
        </p:blipFill>
        <p:spPr>
          <a:xfrm>
            <a:off x="4138326" y="1545039"/>
            <a:ext cx="3148305" cy="11240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38360" y="-777240"/>
            <a:ext cx="3108960" cy="3108960"/>
          </a:xfrm>
          <a:prstGeom prst="ellipse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69880" y="5029200"/>
            <a:ext cx="1828800" cy="1828800"/>
          </a:xfrm>
          <a:prstGeom prst="ellipse">
            <a:avLst/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5303520"/>
            <a:ext cx="685800" cy="685800"/>
          </a:xfrm>
          <a:prstGeom prst="ellipse">
            <a:avLst/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68096" y="749808"/>
            <a:ext cx="1828800" cy="301752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841247" y="800100"/>
            <a:ext cx="1682496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 i="0">
                <a:solidFill>
                  <a:srgbClr val="243447"/>
                </a:solidFill>
                <a:latin typeface="Aptos"/>
              </a:rPr>
              <a:t>PANORAMA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6766560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800" b="1" i="0">
                <a:solidFill>
                  <a:srgbClr val="243447"/>
                </a:solidFill>
                <a:latin typeface="Aptos"/>
              </a:rPr>
              <a:t>Del código a</a:t>
            </a:r>
          </a:p>
          <a:p>
            <a:pPr algn="l">
              <a:spcAft>
                <a:spcPts val="300"/>
              </a:spcAft>
            </a:pPr>
            <a:r>
              <a:rPr sz="3800" b="1" i="0">
                <a:solidFill>
                  <a:srgbClr val="243447"/>
                </a:solidFill>
                <a:latin typeface="Aptos"/>
              </a:rPr>
              <a:t>la intención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310128"/>
            <a:ext cx="63093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627184"/>
                </a:solidFill>
                <a:latin typeface="Aptos"/>
              </a:rPr>
              <a:t>Evolución de los lenguajes, los entornos de desarrollo y la programación con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4594836"/>
            <a:ext cx="6620256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 i="0" dirty="0">
                <a:solidFill>
                  <a:srgbClr val="4B9B91"/>
                </a:solidFill>
                <a:latin typeface="Aptos"/>
              </a:rPr>
              <a:t>Una </a:t>
            </a:r>
            <a:r>
              <a:rPr sz="2000" b="1" i="0" dirty="0" err="1">
                <a:solidFill>
                  <a:srgbClr val="4B9B91"/>
                </a:solidFill>
                <a:latin typeface="Aptos"/>
              </a:rPr>
              <a:t>mirada</a:t>
            </a:r>
            <a:r>
              <a:rPr sz="2000"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4B9B91"/>
                </a:solidFill>
                <a:latin typeface="Aptos"/>
              </a:rPr>
              <a:t>práctica</a:t>
            </a:r>
            <a:r>
              <a:rPr sz="2000" b="1" i="0" dirty="0">
                <a:solidFill>
                  <a:srgbClr val="4B9B91"/>
                </a:solidFill>
                <a:latin typeface="Aptos"/>
              </a:rPr>
              <a:t>: de </a:t>
            </a:r>
            <a:r>
              <a:rPr sz="2000" b="1" i="0" dirty="0" err="1">
                <a:solidFill>
                  <a:srgbClr val="4B9B91"/>
                </a:solidFill>
                <a:latin typeface="Aptos"/>
              </a:rPr>
              <a:t>escribir</a:t>
            </a:r>
            <a:r>
              <a:rPr sz="2000"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4B9B91"/>
                </a:solidFill>
                <a:latin typeface="Aptos"/>
              </a:rPr>
              <a:t>instrucciones</a:t>
            </a:r>
            <a:r>
              <a:rPr sz="2000" b="1" i="0" dirty="0">
                <a:solidFill>
                  <a:srgbClr val="4B9B91"/>
                </a:solidFill>
                <a:latin typeface="Aptos"/>
              </a:rPr>
              <a:t> a </a:t>
            </a:r>
            <a:r>
              <a:rPr sz="2000" b="1" i="0" dirty="0" err="1">
                <a:solidFill>
                  <a:srgbClr val="4B9B91"/>
                </a:solidFill>
                <a:latin typeface="Aptos"/>
              </a:rPr>
              <a:t>describir</a:t>
            </a:r>
            <a:r>
              <a:rPr sz="2000"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sz="2000" b="1" i="0" dirty="0" err="1">
                <a:solidFill>
                  <a:srgbClr val="4B9B91"/>
                </a:solidFill>
                <a:latin typeface="Aptos"/>
              </a:rPr>
              <a:t>resultados</a:t>
            </a:r>
            <a:r>
              <a:rPr sz="2000" b="1" i="0" dirty="0">
                <a:solidFill>
                  <a:srgbClr val="4B9B91"/>
                </a:solidFill>
                <a:latin typeface="Aptos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28800"/>
            <a:ext cx="3749039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06640" y="1828800"/>
            <a:ext cx="3749039" cy="393192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26096" y="1938528"/>
            <a:ext cx="109728" cy="109728"/>
          </a:xfrm>
          <a:prstGeom prst="ellipse">
            <a:avLst/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45552" y="1938528"/>
            <a:ext cx="109728" cy="109728"/>
          </a:xfrm>
          <a:prstGeom prst="ellipse">
            <a:avLst/>
          </a:prstGeom>
          <a:solidFill>
            <a:srgbClr val="F3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065008" y="1938528"/>
            <a:ext cx="109728" cy="109728"/>
          </a:xfrm>
          <a:prstGeom prst="ellipse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62672" y="2514600"/>
            <a:ext cx="411480" cy="1645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AA8B3"/>
                </a:solidFill>
                <a:latin typeface="Consolas"/>
              </a:rPr>
              <a:t>1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AA8B3"/>
                </a:solidFill>
                <a:latin typeface="Consolas"/>
              </a:rPr>
              <a:t>2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AA8B3"/>
                </a:solidFill>
                <a:latin typeface="Consolas"/>
              </a:rPr>
              <a:t>3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9AA8B3"/>
                </a:solidFill>
                <a:latin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514600"/>
            <a:ext cx="2697480" cy="1737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43447"/>
                </a:solidFill>
                <a:latin typeface="Consolas"/>
              </a:rPr>
              <a:t>def idea_a_codigo():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43447"/>
                </a:solidFill>
                <a:latin typeface="Consolas"/>
              </a:rPr>
              <a:t>    objetivo = "útil"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43447"/>
                </a:solidFill>
                <a:latin typeface="Consolas"/>
              </a:rPr>
              <a:t>    prototipo = IA(objetivo)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43447"/>
                </a:solidFill>
                <a:latin typeface="Consolas"/>
              </a:rPr>
              <a:t>    revisar(prototipo)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4224528"/>
            <a:ext cx="1234440" cy="301752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54112" y="4274820"/>
            <a:ext cx="1088136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243447"/>
                </a:solidFill>
                <a:latin typeface="Aptos"/>
              </a:rPr>
              <a:t>IDEA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4224528"/>
            <a:ext cx="1371600" cy="301752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25712" y="4274820"/>
            <a:ext cx="1225296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4B9B91"/>
                </a:solidFill>
                <a:latin typeface="Aptos"/>
              </a:rPr>
              <a:t>CÓDIGO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61320" y="4224528"/>
            <a:ext cx="384048" cy="301752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34472" y="4274820"/>
            <a:ext cx="237744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243447"/>
                </a:solidFill>
                <a:latin typeface="Aptos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400800"/>
            <a:ext cx="5852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Lenguajes · IDE · asistentes · vibe coding</a:t>
            </a:r>
          </a:p>
        </p:txBody>
      </p:sp>
    </p:spTree>
    <p:extLst>
      <p:ext uri="{BB962C8B-B14F-4D97-AF65-F5344CB8AC3E}">
        <p14:creationId xmlns:p14="http://schemas.microsoft.com/office/powerpoint/2010/main" val="42841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38360" y="-777240"/>
            <a:ext cx="3108960" cy="3108960"/>
          </a:xfrm>
          <a:prstGeom prst="ellipse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469880" y="5029200"/>
            <a:ext cx="1828800" cy="1828800"/>
          </a:xfrm>
          <a:prstGeom prst="ellipse">
            <a:avLst/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869680" y="5303520"/>
            <a:ext cx="685800" cy="685800"/>
          </a:xfrm>
          <a:prstGeom prst="ellipse">
            <a:avLst/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544665"/>
            <a:ext cx="6766560" cy="6586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3800" b="1" i="0" dirty="0">
                <a:solidFill>
                  <a:srgbClr val="243447"/>
                </a:solidFill>
                <a:latin typeface="Aptos"/>
              </a:rPr>
              <a:t>Descargar:</a:t>
            </a:r>
            <a:endParaRPr sz="3800"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1425264"/>
            <a:ext cx="10059195" cy="44827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2400" b="1" dirty="0">
                <a:latin typeface="Aptos"/>
              </a:rPr>
              <a:t>Visual Studio </a:t>
            </a:r>
            <a:r>
              <a:rPr lang="es-ES" sz="2400" b="1" dirty="0" err="1">
                <a:latin typeface="Aptos"/>
              </a:rPr>
              <a:t>Code</a:t>
            </a:r>
            <a:r>
              <a:rPr lang="es-ES" sz="2400" b="1" dirty="0">
                <a:latin typeface="Aptos"/>
              </a:rPr>
              <a:t> </a:t>
            </a:r>
          </a:p>
          <a:p>
            <a:pPr marL="800100" lvl="1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2400" b="0" i="0" dirty="0">
                <a:latin typeface="Aptos"/>
                <a:hlinkClick r:id="rId2"/>
              </a:rPr>
              <a:t>https://code.visualstudio.com/download?_exp_download=d53503e735</a:t>
            </a:r>
            <a:r>
              <a:rPr lang="es-ES" sz="2400" b="0" i="0" dirty="0">
                <a:latin typeface="Aptos"/>
              </a:rPr>
              <a:t> </a:t>
            </a:r>
          </a:p>
          <a:p>
            <a:pPr marL="800100" lvl="1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2400" b="1" i="0" dirty="0">
                <a:latin typeface="Aptos"/>
              </a:rPr>
              <a:t>Microsoft Store (</a:t>
            </a:r>
            <a:r>
              <a:rPr lang="es-ES" sz="2400" b="1" i="0" dirty="0" err="1">
                <a:latin typeface="Aptos"/>
              </a:rPr>
              <a:t>Install</a:t>
            </a:r>
            <a:r>
              <a:rPr lang="es-ES" sz="2400" b="1" i="0" dirty="0">
                <a:latin typeface="Aptos"/>
              </a:rPr>
              <a:t>)</a:t>
            </a:r>
          </a:p>
          <a:p>
            <a:pPr marL="1257300" lvl="2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2400" dirty="0">
                <a:latin typeface="Aptos"/>
              </a:rPr>
              <a:t>Visual Studio </a:t>
            </a:r>
            <a:r>
              <a:rPr lang="es-ES" sz="2400" dirty="0" err="1">
                <a:latin typeface="Aptos"/>
              </a:rPr>
              <a:t>Code</a:t>
            </a:r>
            <a:endParaRPr lang="es-ES" sz="2400" dirty="0">
              <a:latin typeface="Aptos"/>
            </a:endParaRPr>
          </a:p>
          <a:p>
            <a:pPr lvl="1">
              <a:spcAft>
                <a:spcPts val="300"/>
              </a:spcAft>
            </a:pPr>
            <a:endParaRPr lang="es-ES" sz="2400" dirty="0">
              <a:latin typeface="Aptos"/>
            </a:endParaRPr>
          </a:p>
          <a:p>
            <a:pPr marL="342900" indent="-342900"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2400" b="1" i="0" dirty="0">
                <a:latin typeface="Aptos"/>
              </a:rPr>
              <a:t>GitHub</a:t>
            </a:r>
            <a:r>
              <a:rPr lang="es-ES" sz="2400" b="0" i="0" dirty="0">
                <a:latin typeface="Aptos"/>
              </a:rPr>
              <a:t> (</a:t>
            </a:r>
            <a:r>
              <a:rPr lang="es-ES" sz="2400" b="0" i="1" dirty="0">
                <a:latin typeface="Aptos"/>
              </a:rPr>
              <a:t>Cuenta</a:t>
            </a:r>
            <a:r>
              <a:rPr lang="es-ES" sz="2400" b="0" i="0" dirty="0">
                <a:latin typeface="Aptos"/>
              </a:rPr>
              <a:t>)</a:t>
            </a:r>
          </a:p>
          <a:p>
            <a:pPr marL="800100" lvl="1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2400" b="0" i="0" dirty="0">
                <a:latin typeface="Aptos"/>
                <a:hlinkClick r:id="rId3"/>
              </a:rPr>
              <a:t>https://github.com/</a:t>
            </a:r>
            <a:r>
              <a:rPr lang="es-MX" sz="2400" b="0" i="0" dirty="0">
                <a:latin typeface="Aptos"/>
              </a:rPr>
              <a:t> </a:t>
            </a:r>
          </a:p>
          <a:p>
            <a:pPr marL="800100" lvl="1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s-MX" sz="2400" dirty="0">
              <a:latin typeface="Aptos"/>
            </a:endParaRPr>
          </a:p>
          <a:p>
            <a:pPr marL="342900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MX" sz="2400" b="1" i="0" dirty="0">
                <a:latin typeface="Aptos"/>
              </a:rPr>
              <a:t>Extensiones de VSC</a:t>
            </a:r>
          </a:p>
          <a:p>
            <a:pPr marL="800100" lvl="1" indent="-34290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s-ES" sz="2400" b="0" i="0" dirty="0">
                <a:latin typeface="Aptos"/>
              </a:rPr>
              <a:t>GitHub </a:t>
            </a:r>
            <a:r>
              <a:rPr lang="es-ES" sz="2400" b="0" i="0" dirty="0" err="1">
                <a:latin typeface="Aptos"/>
              </a:rPr>
              <a:t>Copilot</a:t>
            </a:r>
            <a:endParaRPr sz="2400" b="0" i="0" dirty="0"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808" y="6400800"/>
            <a:ext cx="58521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Lenguajes · IDE · asistentes · vibe coding</a:t>
            </a:r>
          </a:p>
        </p:txBody>
      </p:sp>
    </p:spTree>
    <p:extLst>
      <p:ext uri="{BB962C8B-B14F-4D97-AF65-F5344CB8AC3E}">
        <p14:creationId xmlns:p14="http://schemas.microsoft.com/office/powerpoint/2010/main" val="9304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01 · EL MAPA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¿Qué significa «programar» hoy?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1168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569464"/>
            <a:ext cx="1371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Necesidad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71800"/>
            <a:ext cx="1389888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Qué queremos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resolver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59736" y="2926080"/>
            <a:ext cx="457200" cy="0"/>
          </a:xfrm>
          <a:prstGeom prst="line">
            <a:avLst/>
          </a:prstGeom>
          <a:ln w="254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862072" y="2852928"/>
            <a:ext cx="146304" cy="146304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90088" y="201168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2212848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569464"/>
            <a:ext cx="1371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Lenguaje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971800"/>
            <a:ext cx="1389888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Cómo expresamos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las instrucciones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36592" y="2926080"/>
            <a:ext cx="457200" cy="0"/>
          </a:xfrm>
          <a:prstGeom prst="line">
            <a:avLst/>
          </a:prstGeom>
          <a:ln w="254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138928" y="2852928"/>
            <a:ext cx="146304" cy="146304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66944" y="201168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31536" y="2212848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569464"/>
            <a:ext cx="1371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2971800"/>
            <a:ext cx="1389888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Dónde escribimos,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probamos y depuramos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13448" y="2926080"/>
            <a:ext cx="457200" cy="0"/>
          </a:xfrm>
          <a:prstGeom prst="line">
            <a:avLst/>
          </a:prstGeom>
          <a:ln w="254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415783" y="2852928"/>
            <a:ext cx="146304" cy="146304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543800" y="201168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08392" y="2212848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2569464"/>
            <a:ext cx="1371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Plataforma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2971800"/>
            <a:ext cx="1389888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Herramientas, nube,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servicios e IA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90304" y="2926080"/>
            <a:ext cx="457200" cy="0"/>
          </a:xfrm>
          <a:prstGeom prst="line">
            <a:avLst/>
          </a:prstGeom>
          <a:ln w="254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692640" y="2852928"/>
            <a:ext cx="146304" cy="146304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820656" y="2011680"/>
            <a:ext cx="1691640" cy="1828800"/>
          </a:xfrm>
          <a:prstGeom prst="roundRect">
            <a:avLst>
              <a:gd name="adj" fmla="val 12000"/>
            </a:avLst>
          </a:prstGeom>
          <a:solidFill>
            <a:srgbClr val="F3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85248" y="2212848"/>
            <a:ext cx="13716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2569464"/>
            <a:ext cx="13716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Resultado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971800"/>
            <a:ext cx="1389888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Software que alguien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27184"/>
                </a:solidFill>
                <a:latin typeface="Aptos"/>
              </a:rPr>
              <a:t>puede usar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" y="4407408"/>
            <a:ext cx="1019556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234440" y="464515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Idea clave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4599432"/>
            <a:ext cx="7955279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43447"/>
                </a:solidFill>
                <a:latin typeface="Aptos"/>
              </a:rPr>
              <a:t>La IA no elimina estas capas: puede acelerar algunas, pero el propósito, las decisiones y la validación siguen siendo humanos.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02 · EVOLUCIÓN DE LOS LENGUAJES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De hablarle a la máquina a expresar intención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60120" y="3429000"/>
            <a:ext cx="10241280" cy="0"/>
          </a:xfrm>
          <a:prstGeom prst="line">
            <a:avLst/>
          </a:prstGeom>
          <a:ln w="254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14400" y="3300984"/>
            <a:ext cx="256032" cy="256032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10" name="Connector 9"/>
          <p:cNvCxnSpPr/>
          <p:nvPr/>
        </p:nvCxnSpPr>
        <p:spPr>
          <a:xfrm>
            <a:off x="1042416" y="2560320"/>
            <a:ext cx="0" cy="868680"/>
          </a:xfrm>
          <a:prstGeom prst="line">
            <a:avLst/>
          </a:prstGeom>
          <a:ln w="127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" y="1664208"/>
            <a:ext cx="1481328" cy="896112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585216" y="1706247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>
                <a:solidFill>
                  <a:srgbClr val="4B9B91"/>
                </a:solidFill>
                <a:latin typeface="Aptos"/>
              </a:rPr>
              <a:t>1940–50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1929384"/>
            <a:ext cx="1481328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 err="1">
                <a:solidFill>
                  <a:srgbClr val="243447"/>
                </a:solidFill>
                <a:latin typeface="Aptos"/>
              </a:rPr>
              <a:t>Máquina</a:t>
            </a:r>
            <a:r>
              <a:rPr sz="1600" b="1" i="0" dirty="0">
                <a:solidFill>
                  <a:srgbClr val="243447"/>
                </a:solidFill>
                <a:latin typeface="Aptos"/>
              </a:rPr>
              <a:t> y</a:t>
            </a:r>
          </a:p>
          <a:p>
            <a:pPr algn="l">
              <a:spcAft>
                <a:spcPts val="300"/>
              </a:spcAft>
            </a:pPr>
            <a:r>
              <a:rPr sz="1600" b="1" i="0" dirty="0" err="1">
                <a:solidFill>
                  <a:srgbClr val="243447"/>
                </a:solidFill>
                <a:latin typeface="Aptos"/>
              </a:rPr>
              <a:t>ensamblador</a:t>
            </a:r>
            <a:endParaRPr sz="1600"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31749" y="2529287"/>
            <a:ext cx="1828800" cy="85100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Instrucciones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muy</a:t>
            </a:r>
            <a:endParaRPr sz="1600" b="0" i="0" dirty="0">
              <a:solidFill>
                <a:srgbClr val="627184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cercanas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al hardware.</a:t>
            </a:r>
          </a:p>
        </p:txBody>
      </p:sp>
      <p:sp>
        <p:nvSpPr>
          <p:cNvPr id="15" name="Oval 14"/>
          <p:cNvSpPr/>
          <p:nvPr/>
        </p:nvSpPr>
        <p:spPr>
          <a:xfrm>
            <a:off x="2971800" y="3300984"/>
            <a:ext cx="256032" cy="256032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16" name="Connector 15"/>
          <p:cNvCxnSpPr/>
          <p:nvPr/>
        </p:nvCxnSpPr>
        <p:spPr>
          <a:xfrm flipV="1">
            <a:off x="3099816" y="3429000"/>
            <a:ext cx="0" cy="548639"/>
          </a:xfrm>
          <a:prstGeom prst="line">
            <a:avLst/>
          </a:prstGeom>
          <a:ln w="127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532888" y="3977639"/>
            <a:ext cx="1481328" cy="896112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2642616" y="3996086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>
                <a:solidFill>
                  <a:srgbClr val="4B9B91"/>
                </a:solidFill>
                <a:latin typeface="Aptos"/>
              </a:rPr>
              <a:t>1950–70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42616" y="4306664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>
                <a:solidFill>
                  <a:srgbClr val="243447"/>
                </a:solidFill>
                <a:latin typeface="Aptos"/>
              </a:rPr>
              <a:t>Alto </a:t>
            </a:r>
            <a:r>
              <a:rPr sz="1600" b="1" i="0" dirty="0" err="1">
                <a:solidFill>
                  <a:srgbClr val="243447"/>
                </a:solidFill>
                <a:latin typeface="Aptos"/>
              </a:rPr>
              <a:t>nivel</a:t>
            </a:r>
            <a:endParaRPr sz="1600"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64191" y="4836565"/>
            <a:ext cx="2054430" cy="85100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 dirty="0">
                <a:solidFill>
                  <a:srgbClr val="627184"/>
                </a:solidFill>
                <a:latin typeface="Aptos"/>
              </a:rPr>
              <a:t>FORTRAN, COBOL,</a:t>
            </a:r>
          </a:p>
          <a:p>
            <a:pPr algn="l">
              <a:spcAft>
                <a:spcPts val="300"/>
              </a:spcAft>
            </a:pPr>
            <a:r>
              <a:rPr sz="1600" b="0" i="0" dirty="0">
                <a:solidFill>
                  <a:srgbClr val="627184"/>
                </a:solidFill>
                <a:latin typeface="Aptos"/>
              </a:rPr>
              <a:t>Lisp: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más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abstracción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0" y="3300984"/>
            <a:ext cx="256032" cy="256032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22" name="Connector 21"/>
          <p:cNvCxnSpPr/>
          <p:nvPr/>
        </p:nvCxnSpPr>
        <p:spPr>
          <a:xfrm>
            <a:off x="5157216" y="2560320"/>
            <a:ext cx="0" cy="868680"/>
          </a:xfrm>
          <a:prstGeom prst="line">
            <a:avLst/>
          </a:prstGeom>
          <a:ln w="127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590288" y="1664208"/>
            <a:ext cx="1481328" cy="896112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4608576" y="1666683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>
                <a:solidFill>
                  <a:srgbClr val="4B9B91"/>
                </a:solidFill>
                <a:latin typeface="Aptos"/>
              </a:rPr>
              <a:t>1970–90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7" y="1938528"/>
            <a:ext cx="1481327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 err="1">
                <a:solidFill>
                  <a:srgbClr val="243447"/>
                </a:solidFill>
                <a:latin typeface="Aptos"/>
              </a:rPr>
              <a:t>Estructura</a:t>
            </a:r>
            <a:r>
              <a:rPr sz="1600" b="1" i="0" dirty="0">
                <a:solidFill>
                  <a:srgbClr val="243447"/>
                </a:solidFill>
                <a:latin typeface="Aptos"/>
              </a:rPr>
              <a:t> y</a:t>
            </a:r>
          </a:p>
          <a:p>
            <a:pPr algn="l">
              <a:spcAft>
                <a:spcPts val="300"/>
              </a:spcAft>
            </a:pPr>
            <a:r>
              <a:rPr sz="1600" b="1" i="0" dirty="0" err="1">
                <a:solidFill>
                  <a:srgbClr val="243447"/>
                </a:solidFill>
                <a:latin typeface="Aptos"/>
              </a:rPr>
              <a:t>objetos</a:t>
            </a:r>
            <a:endParaRPr sz="1600"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235989" y="2569159"/>
            <a:ext cx="1786131" cy="85100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 dirty="0">
                <a:solidFill>
                  <a:srgbClr val="627184"/>
                </a:solidFill>
                <a:latin typeface="Aptos"/>
              </a:rPr>
              <a:t>C, SQL, C++, Java:</a:t>
            </a:r>
          </a:p>
          <a:p>
            <a:pPr algn="l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modularidad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y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escala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.</a:t>
            </a:r>
          </a:p>
        </p:txBody>
      </p:sp>
      <p:sp>
        <p:nvSpPr>
          <p:cNvPr id="27" name="Oval 26"/>
          <p:cNvSpPr/>
          <p:nvPr/>
        </p:nvSpPr>
        <p:spPr>
          <a:xfrm>
            <a:off x="7086600" y="3300984"/>
            <a:ext cx="256032" cy="256032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28" name="Connector 27"/>
          <p:cNvCxnSpPr/>
          <p:nvPr/>
        </p:nvCxnSpPr>
        <p:spPr>
          <a:xfrm flipV="1">
            <a:off x="7214616" y="3429000"/>
            <a:ext cx="0" cy="548639"/>
          </a:xfrm>
          <a:prstGeom prst="line">
            <a:avLst/>
          </a:prstGeom>
          <a:ln w="127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647688" y="3977639"/>
            <a:ext cx="1481328" cy="896112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6726156" y="3980456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>
                <a:solidFill>
                  <a:srgbClr val="4B9B91"/>
                </a:solidFill>
                <a:latin typeface="Aptos"/>
              </a:rPr>
              <a:t>1990–2010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57416" y="4244144"/>
            <a:ext cx="128016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>
                <a:solidFill>
                  <a:srgbClr val="243447"/>
                </a:solidFill>
                <a:latin typeface="Aptos"/>
              </a:rPr>
              <a:t>Web y scripting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0781" y="4830223"/>
            <a:ext cx="2144307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 dirty="0">
                <a:solidFill>
                  <a:srgbClr val="627184"/>
                </a:solidFill>
                <a:latin typeface="Aptos"/>
              </a:rPr>
              <a:t>Python y JavaScript:</a:t>
            </a:r>
          </a:p>
          <a:p>
            <a:pPr algn="l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automatizar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y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conectar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.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0" y="3300984"/>
            <a:ext cx="256032" cy="256032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34" name="Connector 33"/>
          <p:cNvCxnSpPr/>
          <p:nvPr/>
        </p:nvCxnSpPr>
        <p:spPr>
          <a:xfrm>
            <a:off x="9272016" y="2560320"/>
            <a:ext cx="0" cy="868680"/>
          </a:xfrm>
          <a:prstGeom prst="line">
            <a:avLst/>
          </a:prstGeom>
          <a:ln w="127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705088" y="1664208"/>
            <a:ext cx="1481328" cy="896112"/>
          </a:xfrm>
          <a:prstGeom prst="roundRect">
            <a:avLst>
              <a:gd name="adj" fmla="val 12000"/>
            </a:avLst>
          </a:prstGeom>
          <a:solidFill>
            <a:srgbClr val="F3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6" name="TextBox 35"/>
          <p:cNvSpPr txBox="1"/>
          <p:nvPr/>
        </p:nvSpPr>
        <p:spPr>
          <a:xfrm>
            <a:off x="8814816" y="1682655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2010–hoy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14816" y="1938528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Ecosistemas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72016" y="2568188"/>
            <a:ext cx="2368296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 dirty="0">
                <a:solidFill>
                  <a:srgbClr val="627184"/>
                </a:solidFill>
                <a:latin typeface="Aptos"/>
              </a:rPr>
              <a:t>Go, Rust, TypeScript;</a:t>
            </a:r>
          </a:p>
          <a:p>
            <a:pPr algn="l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nube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y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multiplataforma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.</a:t>
            </a:r>
          </a:p>
        </p:txBody>
      </p:sp>
      <p:sp>
        <p:nvSpPr>
          <p:cNvPr id="39" name="Oval 38"/>
          <p:cNvSpPr/>
          <p:nvPr/>
        </p:nvSpPr>
        <p:spPr>
          <a:xfrm>
            <a:off x="10881360" y="3300984"/>
            <a:ext cx="256032" cy="256032"/>
          </a:xfrm>
          <a:prstGeom prst="ellipse">
            <a:avLst/>
          </a:prstGeom>
          <a:solidFill>
            <a:srgbClr val="4B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cxnSp>
        <p:nvCxnSpPr>
          <p:cNvPr id="40" name="Connector 39"/>
          <p:cNvCxnSpPr/>
          <p:nvPr/>
        </p:nvCxnSpPr>
        <p:spPr>
          <a:xfrm flipV="1">
            <a:off x="11009376" y="3429000"/>
            <a:ext cx="0" cy="548639"/>
          </a:xfrm>
          <a:prstGeom prst="line">
            <a:avLst/>
          </a:prstGeom>
          <a:ln w="1270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10442448" y="3977639"/>
            <a:ext cx="1481328" cy="896112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2" name="TextBox 41"/>
          <p:cNvSpPr txBox="1"/>
          <p:nvPr/>
        </p:nvSpPr>
        <p:spPr>
          <a:xfrm>
            <a:off x="10528731" y="3996086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2020–hoy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52176" y="4251959"/>
            <a:ext cx="1280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IA generativa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69263" y="4830223"/>
            <a:ext cx="1797382" cy="85100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Modelos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ayudan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a</a:t>
            </a:r>
          </a:p>
          <a:p>
            <a:pPr algn="l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crear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y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transformar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código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" y="5806440"/>
            <a:ext cx="9592447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1" dirty="0" err="1">
                <a:solidFill>
                  <a:srgbClr val="627184"/>
                </a:solidFill>
                <a:latin typeface="Aptos"/>
              </a:rPr>
              <a:t>Tendencia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: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más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abstracción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y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portabilidad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; no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desaparece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el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hardware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ni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la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necesidad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de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comprender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fundamentos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.  [1, 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03 · CONCEPTOS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Los lenguajes ofrecen distintas formas de pensar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5257800" cy="1389888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4892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Imperativo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9" y="2194560"/>
            <a:ext cx="5334000" cy="666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627184"/>
                </a:solidFill>
                <a:latin typeface="Aptos"/>
              </a:rPr>
              <a:t>Describe pasos y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cambios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de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estado</a:t>
            </a:r>
            <a:r>
              <a:rPr b="0" i="0" dirty="0">
                <a:solidFill>
                  <a:srgbClr val="627184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Ej</a:t>
            </a:r>
            <a:r>
              <a:rPr b="0" i="0" dirty="0">
                <a:solidFill>
                  <a:srgbClr val="627184"/>
                </a:solidFill>
                <a:latin typeface="Aptos"/>
              </a:rPr>
              <a:t>.: C, Python.</a:t>
            </a:r>
          </a:p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627184"/>
                </a:solidFill>
                <a:latin typeface="Aptos"/>
              </a:rPr>
              <a:t>`total =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precio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*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cantidad</a:t>
            </a:r>
            <a:r>
              <a:rPr b="0" i="0" dirty="0">
                <a:solidFill>
                  <a:srgbClr val="627184"/>
                </a:solidFill>
                <a:latin typeface="Aptos"/>
              </a:rPr>
              <a:t>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27632"/>
            <a:ext cx="5257800" cy="1389888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792224"/>
            <a:ext cx="4892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Declarativo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5248" y="2083329"/>
            <a:ext cx="5300471" cy="9433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627184"/>
                </a:solidFill>
                <a:latin typeface="Aptos"/>
              </a:rPr>
              <a:t>Describe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el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resultado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deseado</a:t>
            </a:r>
            <a:r>
              <a:rPr b="0" i="0" dirty="0">
                <a:solidFill>
                  <a:srgbClr val="627184"/>
                </a:solidFill>
                <a:latin typeface="Aptos"/>
              </a:rPr>
              <a:t>;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el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sistema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resuelve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cómo</a:t>
            </a:r>
            <a:r>
              <a:rPr b="0" i="0" dirty="0">
                <a:solidFill>
                  <a:srgbClr val="627184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Ej</a:t>
            </a:r>
            <a:r>
              <a:rPr b="0" i="0" dirty="0">
                <a:solidFill>
                  <a:srgbClr val="627184"/>
                </a:solidFill>
                <a:latin typeface="Aptos"/>
              </a:rPr>
              <a:t>.: SQL.</a:t>
            </a:r>
          </a:p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627184"/>
                </a:solidFill>
                <a:latin typeface="Aptos"/>
              </a:rPr>
              <a:t>`SELECT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nombre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FROM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clientes</a:t>
            </a:r>
            <a:r>
              <a:rPr b="0" i="0" dirty="0">
                <a:solidFill>
                  <a:srgbClr val="627184"/>
                </a:solidFill>
                <a:latin typeface="Aptos"/>
              </a:rPr>
              <a:t>;`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246120"/>
            <a:ext cx="5257800" cy="1389888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410712"/>
            <a:ext cx="4892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Orientado a objetos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81788"/>
            <a:ext cx="507492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0" dirty="0" err="1">
                <a:solidFill>
                  <a:srgbClr val="627184"/>
                </a:solidFill>
                <a:latin typeface="Aptos"/>
              </a:rPr>
              <a:t>Organiza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datos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y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comportamiento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en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objetos</a:t>
            </a:r>
            <a:r>
              <a:rPr b="0" i="0" dirty="0">
                <a:solidFill>
                  <a:srgbClr val="627184"/>
                </a:solidFill>
                <a:latin typeface="Aptos"/>
              </a:rPr>
              <a:t>;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ayuda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a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modelar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dominios</a:t>
            </a:r>
            <a:r>
              <a:rPr lang="es-ES" b="0" i="0" dirty="0">
                <a:solidFill>
                  <a:srgbClr val="627184"/>
                </a:solidFill>
                <a:latin typeface="Aptos"/>
              </a:rPr>
              <a:t> (clases)</a:t>
            </a:r>
            <a:r>
              <a:rPr b="0" i="0" dirty="0">
                <a:solidFill>
                  <a:srgbClr val="627184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Ej</a:t>
            </a:r>
            <a:r>
              <a:rPr b="0" i="0" dirty="0">
                <a:solidFill>
                  <a:srgbClr val="627184"/>
                </a:solidFill>
                <a:latin typeface="Aptos"/>
              </a:rPr>
              <a:t>.: Java, C#.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246120"/>
            <a:ext cx="5257800" cy="1389888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3410712"/>
            <a:ext cx="489204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Funcional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4394" y="3708088"/>
            <a:ext cx="5242560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0" dirty="0" err="1">
                <a:solidFill>
                  <a:srgbClr val="627184"/>
                </a:solidFill>
                <a:latin typeface="Aptos"/>
              </a:rPr>
              <a:t>Compone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funciones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y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favorece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transformaciones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explícitas</a:t>
            </a:r>
            <a:r>
              <a:rPr b="0" i="0" dirty="0">
                <a:solidFill>
                  <a:srgbClr val="627184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Ej</a:t>
            </a:r>
            <a:r>
              <a:rPr b="0" i="0" dirty="0">
                <a:solidFill>
                  <a:srgbClr val="627184"/>
                </a:solidFill>
                <a:latin typeface="Aptos"/>
              </a:rPr>
              <a:t>.: Haskell;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también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aparece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627184"/>
                </a:solidFill>
                <a:latin typeface="Aptos"/>
              </a:rPr>
              <a:t>en</a:t>
            </a:r>
            <a:r>
              <a:rPr b="0" i="0" dirty="0">
                <a:solidFill>
                  <a:srgbClr val="627184"/>
                </a:solidFill>
                <a:latin typeface="Aptos"/>
              </a:rPr>
              <a:t> Python y JavaScript.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5056632"/>
            <a:ext cx="10241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0600" y="5152218"/>
            <a:ext cx="1024128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 dirty="0">
                <a:solidFill>
                  <a:srgbClr val="243447"/>
                </a:solidFill>
                <a:latin typeface="Aptos"/>
              </a:rPr>
              <a:t>En la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práctica</a:t>
            </a:r>
            <a:r>
              <a:rPr b="1" i="0" dirty="0">
                <a:solidFill>
                  <a:srgbClr val="243447"/>
                </a:solidFill>
                <a:latin typeface="Aptos"/>
              </a:rPr>
              <a:t>,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muchos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lenguajes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son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multiparadigma</a:t>
            </a:r>
            <a:r>
              <a:rPr b="1" i="0" dirty="0">
                <a:solidFill>
                  <a:srgbClr val="243447"/>
                </a:solidFill>
                <a:latin typeface="Aptos"/>
              </a:rPr>
              <a:t>: se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elige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el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enfoque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que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hace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el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problema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más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claro.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04 · EJEMPLOS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Elegir lenguaje: importa el problema, no la moda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64208"/>
            <a:ext cx="1056132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Rounded Rectangle 8"/>
          <p:cNvSpPr/>
          <p:nvPr/>
        </p:nvSpPr>
        <p:spPr>
          <a:xfrm>
            <a:off x="822960" y="1664208"/>
            <a:ext cx="2560320" cy="667512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21488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Web interactiva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1847088"/>
            <a:ext cx="23774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JavaScript / TypeScript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28800"/>
            <a:ext cx="50749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Ecosistema web; TypeScript añade tipos estáticos.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496312"/>
            <a:ext cx="1056132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Rounded Rectangle 13"/>
          <p:cNvSpPr/>
          <p:nvPr/>
        </p:nvSpPr>
        <p:spPr>
          <a:xfrm>
            <a:off x="822960" y="2496312"/>
            <a:ext cx="2560320" cy="667512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024128" y="2679192"/>
            <a:ext cx="21488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Datos y prototipos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679192"/>
            <a:ext cx="23774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60904"/>
            <a:ext cx="50749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Sintaxis accesible y amplia oferta de bibliotecas.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328416"/>
            <a:ext cx="1056132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Rounded Rectangle 18"/>
          <p:cNvSpPr/>
          <p:nvPr/>
        </p:nvSpPr>
        <p:spPr>
          <a:xfrm>
            <a:off x="822960" y="3328416"/>
            <a:ext cx="2560320" cy="667512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1024128" y="3511296"/>
            <a:ext cx="21488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Consultas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3511296"/>
            <a:ext cx="23774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493008"/>
            <a:ext cx="50749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Expresa qué filas y columnas se necesitan.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160520"/>
            <a:ext cx="10561320" cy="6675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4" name="Rounded Rectangle 23"/>
          <p:cNvSpPr/>
          <p:nvPr/>
        </p:nvSpPr>
        <p:spPr>
          <a:xfrm>
            <a:off x="822960" y="4160520"/>
            <a:ext cx="2560320" cy="667512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941832" y="4374369"/>
            <a:ext cx="231343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 dirty="0" err="1">
                <a:solidFill>
                  <a:srgbClr val="243447"/>
                </a:solidFill>
                <a:latin typeface="Aptos"/>
              </a:rPr>
              <a:t>Sistemas</a:t>
            </a:r>
            <a:r>
              <a:rPr sz="1600" b="1" i="0" dirty="0">
                <a:solidFill>
                  <a:srgbClr val="243447"/>
                </a:solidFill>
                <a:latin typeface="Aptos"/>
              </a:rPr>
              <a:t> / </a:t>
            </a:r>
            <a:r>
              <a:rPr sz="1600" b="1" i="0" dirty="0" err="1">
                <a:solidFill>
                  <a:srgbClr val="243447"/>
                </a:solidFill>
                <a:latin typeface="Aptos"/>
              </a:rPr>
              <a:t>rendimiento</a:t>
            </a:r>
            <a:endParaRPr sz="1600"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39312" y="4343400"/>
            <a:ext cx="23774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C, C++, Rust, 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25112"/>
            <a:ext cx="50749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 dirty="0">
                <a:solidFill>
                  <a:srgbClr val="627184"/>
                </a:solidFill>
                <a:latin typeface="Aptos"/>
              </a:rPr>
              <a:t>Más control o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eficiencia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; cost</a:t>
            </a:r>
            <a:r>
              <a:rPr lang="es-ES" sz="1600" b="0" i="0" dirty="0">
                <a:solidFill>
                  <a:srgbClr val="627184"/>
                </a:solidFill>
                <a:latin typeface="Aptos"/>
              </a:rPr>
              <a:t>o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diseño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distinto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" y="5193792"/>
            <a:ext cx="10469880" cy="658368"/>
          </a:xfrm>
          <a:prstGeom prst="roundRect">
            <a:avLst>
              <a:gd name="adj" fmla="val 12000"/>
            </a:avLst>
          </a:prstGeom>
          <a:solidFill>
            <a:srgbClr val="F3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1078992" y="5376672"/>
            <a:ext cx="100126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 i="0">
                <a:solidFill>
                  <a:srgbClr val="243447"/>
                </a:solidFill>
                <a:latin typeface="Aptos"/>
              </a:rPr>
              <a:t>Decisión práctica: equipo, plataforma, seguridad, mantenimiento y experiencia del equipo.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05 · ENTORNOS INTEGRADOS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Un IDE reúne las herramientas del ciclo de desarrollo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395728"/>
            <a:ext cx="3246120" cy="1280160"/>
          </a:xfrm>
          <a:prstGeom prst="roundRect">
            <a:avLst>
              <a:gd name="adj" fmla="val 12000"/>
            </a:avLst>
          </a:prstGeom>
          <a:solidFill>
            <a:srgbClr val="24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09160" y="2578767"/>
            <a:ext cx="2697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800" y="3090672"/>
            <a:ext cx="3388362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 dirty="0">
                <a:solidFill>
                  <a:srgbClr val="DCE7EC"/>
                </a:solidFill>
                <a:latin typeface="Aptos"/>
              </a:rPr>
              <a:t>editor + </a:t>
            </a:r>
            <a:r>
              <a:rPr sz="1600" b="0" i="0" dirty="0" err="1">
                <a:solidFill>
                  <a:srgbClr val="DCE7EC"/>
                </a:solidFill>
                <a:latin typeface="Aptos"/>
              </a:rPr>
              <a:t>herramientas</a:t>
            </a:r>
            <a:r>
              <a:rPr sz="1600" b="0" i="0" dirty="0">
                <a:solidFill>
                  <a:srgbClr val="DCE7EC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DCE7EC"/>
                </a:solidFill>
                <a:latin typeface="Aptos"/>
              </a:rPr>
              <a:t>conectadas</a:t>
            </a:r>
            <a:endParaRPr sz="1600" b="0" i="0" dirty="0">
              <a:solidFill>
                <a:srgbClr val="DCE7EC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68680" y="169164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1005839" y="1847088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 dirty="0">
                <a:solidFill>
                  <a:srgbClr val="243447"/>
                </a:solidFill>
                <a:latin typeface="Aptos"/>
              </a:rPr>
              <a:t>Editor y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lenguaje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9811" y="2178865"/>
            <a:ext cx="2686617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resaltado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·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autocompletado</a:t>
            </a:r>
            <a:endParaRPr sz="1600" b="0" i="0" dirty="0">
              <a:solidFill>
                <a:srgbClr val="627184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942832" y="1691640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0" y="1718269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Ejecución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/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2016409"/>
            <a:ext cx="2359152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compilar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·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correr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·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empaquetar</a:t>
            </a:r>
            <a:endParaRPr sz="1600" b="0" i="0" dirty="0">
              <a:solidFill>
                <a:srgbClr val="627184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3977639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013640"/>
            <a:ext cx="2268807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Depurador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y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pruebas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4356849"/>
            <a:ext cx="2380489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pausas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·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inspección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·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42832" y="3977639"/>
            <a:ext cx="2331720" cy="914400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79992" y="4023361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 dirty="0">
                <a:solidFill>
                  <a:srgbClr val="243447"/>
                </a:solidFill>
                <a:latin typeface="Aptos"/>
              </a:rPr>
              <a:t>Git y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extensiones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4063" y="4489704"/>
            <a:ext cx="2380489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historial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·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integraciones</a:t>
            </a:r>
            <a:endParaRPr sz="1600" b="0" i="0" dirty="0">
              <a:solidFill>
                <a:srgbClr val="627184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200400" y="2148840"/>
            <a:ext cx="1234440" cy="548640"/>
          </a:xfrm>
          <a:prstGeom prst="line">
            <a:avLst/>
          </a:prstGeom>
          <a:ln w="1905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680960" y="2148840"/>
            <a:ext cx="1261872" cy="548640"/>
          </a:xfrm>
          <a:prstGeom prst="line">
            <a:avLst/>
          </a:prstGeom>
          <a:ln w="1905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200400" y="3429000"/>
            <a:ext cx="1234440" cy="1005840"/>
          </a:xfrm>
          <a:prstGeom prst="line">
            <a:avLst/>
          </a:prstGeom>
          <a:ln w="1905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60" y="3429000"/>
            <a:ext cx="1261872" cy="1005840"/>
          </a:xfrm>
          <a:prstGeom prst="line">
            <a:avLst/>
          </a:prstGeom>
          <a:ln w="19050">
            <a:solidFill>
              <a:srgbClr val="4B9B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394960"/>
            <a:ext cx="10241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1">
                <a:solidFill>
                  <a:srgbClr val="627184"/>
                </a:solidFill>
                <a:latin typeface="Aptos"/>
              </a:rPr>
              <a:t>Ejemplos: Visual Studio Code (ampliable con extensiones), IntelliJ IDEA, Eclipse y PyCharm.  [4]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06 · FLUJO DE TRABAJO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Del archivo al programa: un ciclo que se repite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1856231"/>
            <a:ext cx="438912" cy="438912"/>
          </a:xfrm>
          <a:prstGeom prst="ellipse">
            <a:avLst/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1325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>
                <a:solidFill>
                  <a:srgbClr val="243447"/>
                </a:solidFill>
                <a:latin typeface="Aptos"/>
              </a:rPr>
              <a:t>Escribir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52928"/>
            <a:ext cx="146304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Editor</a:t>
            </a:r>
          </a:p>
        </p:txBody>
      </p:sp>
      <p:sp>
        <p:nvSpPr>
          <p:cNvPr id="12" name="Oval 11"/>
          <p:cNvSpPr/>
          <p:nvPr/>
        </p:nvSpPr>
        <p:spPr>
          <a:xfrm>
            <a:off x="3639312" y="1856231"/>
            <a:ext cx="438912" cy="438912"/>
          </a:xfrm>
          <a:prstGeom prst="ellipse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2468880"/>
            <a:ext cx="1325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>
                <a:solidFill>
                  <a:srgbClr val="243447"/>
                </a:solidFill>
                <a:latin typeface="Aptos"/>
              </a:rPr>
              <a:t>Ejecutar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852928"/>
            <a:ext cx="1463040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Intérprete /</a:t>
            </a:r>
          </a:p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compilador</a:t>
            </a:r>
          </a:p>
        </p:txBody>
      </p:sp>
      <p:sp>
        <p:nvSpPr>
          <p:cNvPr id="16" name="Oval 15"/>
          <p:cNvSpPr/>
          <p:nvPr/>
        </p:nvSpPr>
        <p:spPr>
          <a:xfrm>
            <a:off x="5907024" y="1856231"/>
            <a:ext cx="438912" cy="438912"/>
          </a:xfrm>
          <a:prstGeom prst="ellipse">
            <a:avLst/>
          </a:prstGeom>
          <a:solidFill>
            <a:srgbClr val="F3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68112" y="2468880"/>
            <a:ext cx="1325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>
                <a:solidFill>
                  <a:srgbClr val="243447"/>
                </a:solidFill>
                <a:latin typeface="Aptos"/>
              </a:rPr>
              <a:t>Observar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2852928"/>
            <a:ext cx="1463040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Salida y</a:t>
            </a:r>
          </a:p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logs</a:t>
            </a:r>
          </a:p>
        </p:txBody>
      </p:sp>
      <p:sp>
        <p:nvSpPr>
          <p:cNvPr id="20" name="Oval 19"/>
          <p:cNvSpPr/>
          <p:nvPr/>
        </p:nvSpPr>
        <p:spPr>
          <a:xfrm>
            <a:off x="8174736" y="1856231"/>
            <a:ext cx="438912" cy="438912"/>
          </a:xfrm>
          <a:prstGeom prst="ellipse">
            <a:avLst/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35823" y="2468880"/>
            <a:ext cx="1325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>
                <a:solidFill>
                  <a:srgbClr val="243447"/>
                </a:solidFill>
                <a:latin typeface="Aptos"/>
              </a:rPr>
              <a:t>Depurar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5" y="2852928"/>
            <a:ext cx="1463040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Aislar y</a:t>
            </a:r>
          </a:p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corregir</a:t>
            </a:r>
          </a:p>
        </p:txBody>
      </p:sp>
      <p:sp>
        <p:nvSpPr>
          <p:cNvPr id="24" name="Oval 23"/>
          <p:cNvSpPr/>
          <p:nvPr/>
        </p:nvSpPr>
        <p:spPr>
          <a:xfrm>
            <a:off x="10442448" y="1856231"/>
            <a:ext cx="438912" cy="438912"/>
          </a:xfrm>
          <a:prstGeom prst="ellipse">
            <a:avLst/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03536" y="2468880"/>
            <a:ext cx="13258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>
                <a:solidFill>
                  <a:srgbClr val="243447"/>
                </a:solidFill>
                <a:latin typeface="Aptos"/>
              </a:rPr>
              <a:t>Verificar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852928"/>
            <a:ext cx="1463040" cy="60478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Pruebas +</a:t>
            </a:r>
          </a:p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627184"/>
                </a:solidFill>
                <a:latin typeface="Aptos"/>
              </a:rPr>
              <a:t>Git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749039"/>
            <a:ext cx="10332720" cy="1508760"/>
          </a:xfrm>
          <a:prstGeom prst="roundRect">
            <a:avLst>
              <a:gd name="adj" fmla="val 12000"/>
            </a:avLst>
          </a:prstGeom>
          <a:solidFill>
            <a:srgbClr val="263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207008" y="4005072"/>
            <a:ext cx="973836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Ejemplo Python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def es_par(n):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    return n % 2 == 0</a:t>
            </a:r>
          </a:p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FFFFFF"/>
                </a:solidFill>
                <a:latin typeface="Consolas"/>
              </a:rPr>
              <a:t># probar: es_par(8) → 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5605272"/>
            <a:ext cx="102412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1">
                <a:solidFill>
                  <a:srgbClr val="627184"/>
                </a:solidFill>
                <a:latin typeface="Aptos"/>
              </a:rPr>
              <a:t>El IDE ayuda a encontrar errores; no sustituye las pruebas ni la revisión de quien mantiene el software.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79C48145-C98A-4B47-ECC7-A4BBD6A3A300}"/>
              </a:ext>
            </a:extLst>
          </p:cNvPr>
          <p:cNvCxnSpPr>
            <a:cxnSpLocks/>
          </p:cNvCxnSpPr>
          <p:nvPr/>
        </p:nvCxnSpPr>
        <p:spPr>
          <a:xfrm>
            <a:off x="2089599" y="2096631"/>
            <a:ext cx="1341355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2461130B-5969-C1B5-58DA-8F37A8B54DFC}"/>
              </a:ext>
            </a:extLst>
          </p:cNvPr>
          <p:cNvCxnSpPr>
            <a:cxnSpLocks/>
          </p:cNvCxnSpPr>
          <p:nvPr/>
        </p:nvCxnSpPr>
        <p:spPr>
          <a:xfrm>
            <a:off x="4234922" y="2096631"/>
            <a:ext cx="1517201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E84B5C6D-5ECF-6372-EA38-FD4D36D5D469}"/>
              </a:ext>
            </a:extLst>
          </p:cNvPr>
          <p:cNvCxnSpPr>
            <a:cxnSpLocks/>
          </p:cNvCxnSpPr>
          <p:nvPr/>
        </p:nvCxnSpPr>
        <p:spPr>
          <a:xfrm>
            <a:off x="6541475" y="2096631"/>
            <a:ext cx="1517201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571429C2-C178-C44D-3026-42332E366462}"/>
              </a:ext>
            </a:extLst>
          </p:cNvPr>
          <p:cNvCxnSpPr>
            <a:cxnSpLocks/>
          </p:cNvCxnSpPr>
          <p:nvPr/>
        </p:nvCxnSpPr>
        <p:spPr>
          <a:xfrm>
            <a:off x="8708603" y="2096631"/>
            <a:ext cx="1517201" cy="0"/>
          </a:xfrm>
          <a:prstGeom prst="straightConnector1">
            <a:avLst/>
          </a:prstGeom>
          <a:ln w="28575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07 · IA APLICADA AL DESARROLLO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Las plataformas de IA se integran en varios niveles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64208"/>
            <a:ext cx="10497312" cy="795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664208"/>
            <a:ext cx="2240280" cy="795528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024128" y="1892808"/>
            <a:ext cx="1874519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243447"/>
                </a:solidFill>
                <a:latin typeface="Aptos"/>
              </a:rPr>
              <a:t>Conversación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8" y="1819656"/>
            <a:ext cx="473659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>
                <a:solidFill>
                  <a:srgbClr val="627184"/>
                </a:solidFill>
                <a:latin typeface="Aptos"/>
              </a:rPr>
              <a:t>Preguntar, explicar, bosquejar 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847088"/>
            <a:ext cx="289864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dirty="0">
                <a:solidFill>
                  <a:srgbClr val="4B9B91"/>
                </a:solidFill>
                <a:latin typeface="Aptos"/>
              </a:rPr>
              <a:t>ChatGPT · Claude · Gemini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651760"/>
            <a:ext cx="10497312" cy="795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" y="2651760"/>
            <a:ext cx="2240280" cy="795528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024128" y="2880360"/>
            <a:ext cx="2057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Asistente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en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el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729058"/>
            <a:ext cx="4736592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 dirty="0" err="1">
                <a:solidFill>
                  <a:srgbClr val="627184"/>
                </a:solidFill>
                <a:latin typeface="Aptos"/>
              </a:rPr>
              <a:t>Sugerencias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y chat con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contexto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del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proyecto</a:t>
            </a:r>
            <a:endParaRPr sz="2000" b="0" i="0" dirty="0">
              <a:solidFill>
                <a:srgbClr val="627184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6448" y="2834640"/>
            <a:ext cx="3011424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 dirty="0">
                <a:solidFill>
                  <a:srgbClr val="4B9B91"/>
                </a:solidFill>
                <a:latin typeface="Aptos"/>
              </a:rPr>
              <a:t>GitHub Copilot · Cursor · </a:t>
            </a:r>
            <a:r>
              <a:rPr sz="1400" b="1" i="0" dirty="0" err="1">
                <a:solidFill>
                  <a:srgbClr val="4B9B91"/>
                </a:solidFill>
                <a:latin typeface="Aptos"/>
              </a:rPr>
              <a:t>extensiones</a:t>
            </a:r>
            <a:endParaRPr sz="1400" b="1" i="0" dirty="0">
              <a:solidFill>
                <a:srgbClr val="4B9B9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41248" y="3639312"/>
            <a:ext cx="10497312" cy="795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8" y="3639312"/>
            <a:ext cx="2240280" cy="795528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1014984" y="3739710"/>
            <a:ext cx="205740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Agente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de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programación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355848" y="3708795"/>
            <a:ext cx="4736592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 dirty="0" err="1">
                <a:solidFill>
                  <a:srgbClr val="627184"/>
                </a:solidFill>
                <a:latin typeface="Aptos"/>
              </a:rPr>
              <a:t>Planifica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pasos,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edita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archivos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y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puede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ejecutar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herramientas</a:t>
            </a:r>
            <a:endParaRPr sz="2000" b="0" i="0" dirty="0">
              <a:solidFill>
                <a:srgbClr val="627184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56448" y="3822192"/>
            <a:ext cx="2898648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4B9B91"/>
                </a:solidFill>
                <a:latin typeface="Aptos"/>
              </a:rPr>
              <a:t>Copilot coding agent · agentes de 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626864"/>
            <a:ext cx="10497312" cy="795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1248" y="4626864"/>
            <a:ext cx="2240280" cy="795528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1014984" y="4694933"/>
            <a:ext cx="205740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>
                <a:solidFill>
                  <a:srgbClr val="243447"/>
                </a:solidFill>
                <a:latin typeface="Aptos"/>
              </a:rPr>
              <a:t>Constructor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en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la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nube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55848" y="4704162"/>
            <a:ext cx="4736592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0" i="0" dirty="0">
                <a:solidFill>
                  <a:srgbClr val="627184"/>
                </a:solidFill>
                <a:latin typeface="Aptos"/>
              </a:rPr>
              <a:t>Describe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una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app y genera un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prototipo</a:t>
            </a:r>
            <a:r>
              <a:rPr sz="20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2000" b="0" i="0" dirty="0" err="1">
                <a:solidFill>
                  <a:srgbClr val="627184"/>
                </a:solidFill>
                <a:latin typeface="Aptos"/>
              </a:rPr>
              <a:t>desplegable</a:t>
            </a:r>
            <a:endParaRPr sz="2000" b="0" i="0" dirty="0">
              <a:solidFill>
                <a:srgbClr val="627184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6448" y="4809744"/>
            <a:ext cx="2898648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4B9B91"/>
                </a:solidFill>
                <a:latin typeface="Aptos"/>
              </a:rPr>
              <a:t>Replit y plataformas similares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33872"/>
            <a:ext cx="1024128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1" dirty="0" err="1">
                <a:solidFill>
                  <a:srgbClr val="627184"/>
                </a:solidFill>
                <a:latin typeface="Aptos"/>
              </a:rPr>
              <a:t>Capacidades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y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permisos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varían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: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confirmar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siempre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qué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contexto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recibe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y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qué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acciones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puede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ejecutar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.  [5]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08 · EJEMPLO DE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Mejor contexto → mejores primeras versiones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82496"/>
            <a:ext cx="4983480" cy="3319272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8" y="1901952"/>
            <a:ext cx="1387622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12718" y="1920241"/>
            <a:ext cx="1399032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 dirty="0">
                <a:solidFill>
                  <a:srgbClr val="9C6A54"/>
                </a:solidFill>
                <a:latin typeface="Aptos"/>
              </a:rPr>
              <a:t>VAGO</a:t>
            </a:r>
            <a:r>
              <a:rPr lang="es-ES" sz="900" b="1" i="0" dirty="0">
                <a:solidFill>
                  <a:srgbClr val="9C6A54"/>
                </a:solidFill>
                <a:latin typeface="Aptos"/>
              </a:rPr>
              <a:t> (Falta especificar)</a:t>
            </a:r>
            <a:endParaRPr sz="900" b="1" i="0" dirty="0">
              <a:solidFill>
                <a:srgbClr val="9C6A54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" y="2395728"/>
            <a:ext cx="448056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1" i="0" dirty="0">
                <a:solidFill>
                  <a:srgbClr val="243447"/>
                </a:solidFill>
                <a:latin typeface="Aptos"/>
              </a:rPr>
              <a:t>«</a:t>
            </a:r>
            <a:r>
              <a:rPr sz="2100" b="1" i="0" u="sng" dirty="0" err="1">
                <a:solidFill>
                  <a:srgbClr val="243447"/>
                </a:solidFill>
                <a:latin typeface="Aptos"/>
              </a:rPr>
              <a:t>Hazme</a:t>
            </a:r>
            <a:r>
              <a:rPr sz="2100" b="1" i="0" u="sng" dirty="0">
                <a:solidFill>
                  <a:srgbClr val="243447"/>
                </a:solidFill>
                <a:latin typeface="Aptos"/>
              </a:rPr>
              <a:t> </a:t>
            </a:r>
            <a:r>
              <a:rPr sz="2100" b="1" i="0" u="sng" dirty="0" err="1">
                <a:solidFill>
                  <a:srgbClr val="243447"/>
                </a:solidFill>
                <a:latin typeface="Aptos"/>
              </a:rPr>
              <a:t>una</a:t>
            </a:r>
            <a:r>
              <a:rPr sz="2100" b="1" i="0" u="sng" dirty="0">
                <a:solidFill>
                  <a:srgbClr val="243447"/>
                </a:solidFill>
                <a:latin typeface="Aptos"/>
              </a:rPr>
              <a:t> app para </a:t>
            </a:r>
            <a:r>
              <a:rPr sz="2100" b="1" i="0" u="sng" dirty="0" err="1">
                <a:solidFill>
                  <a:srgbClr val="243447"/>
                </a:solidFill>
                <a:latin typeface="Aptos"/>
              </a:rPr>
              <a:t>tareas</a:t>
            </a:r>
            <a:r>
              <a:rPr sz="2100" b="1" i="0" dirty="0">
                <a:solidFill>
                  <a:srgbClr val="243447"/>
                </a:solidFill>
                <a:latin typeface="Aptos"/>
              </a:rPr>
              <a:t>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" y="2976384"/>
            <a:ext cx="4434840" cy="129727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1" dirty="0">
                <a:solidFill>
                  <a:srgbClr val="627184"/>
                </a:solidFill>
                <a:latin typeface="Aptos"/>
              </a:rPr>
              <a:t>¿Para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quién</a:t>
            </a:r>
            <a:r>
              <a:rPr b="0" i="1" dirty="0">
                <a:solidFill>
                  <a:srgbClr val="627184"/>
                </a:solidFill>
                <a:latin typeface="Aptos"/>
              </a:rPr>
              <a:t>? </a:t>
            </a:r>
            <a:endParaRPr lang="es-ES" b="0" i="1" dirty="0">
              <a:solidFill>
                <a:srgbClr val="627184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0" i="1" dirty="0">
                <a:solidFill>
                  <a:srgbClr val="627184"/>
                </a:solidFill>
                <a:latin typeface="Aptos"/>
              </a:rPr>
              <a:t>¿En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qué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entorno</a:t>
            </a:r>
            <a:r>
              <a:rPr b="0" i="1" dirty="0">
                <a:solidFill>
                  <a:srgbClr val="627184"/>
                </a:solidFill>
                <a:latin typeface="Aptos"/>
              </a:rPr>
              <a:t>? </a:t>
            </a:r>
            <a:endParaRPr lang="es-ES" b="0" i="1" dirty="0">
              <a:solidFill>
                <a:srgbClr val="627184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0" i="1" dirty="0">
                <a:solidFill>
                  <a:srgbClr val="627184"/>
                </a:solidFill>
                <a:latin typeface="Aptos"/>
              </a:rPr>
              <a:t>¿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Qué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datos</a:t>
            </a:r>
            <a:r>
              <a:rPr b="0" i="1" dirty="0">
                <a:solidFill>
                  <a:srgbClr val="627184"/>
                </a:solidFill>
                <a:latin typeface="Aptos"/>
              </a:rPr>
              <a:t>? </a:t>
            </a:r>
            <a:endParaRPr lang="es-ES" b="0" i="1" dirty="0">
              <a:solidFill>
                <a:srgbClr val="627184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0" i="1" dirty="0">
                <a:solidFill>
                  <a:srgbClr val="627184"/>
                </a:solidFill>
                <a:latin typeface="Aptos"/>
              </a:rPr>
              <a:t>¿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Cómo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sabemos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que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funciona</a:t>
            </a:r>
            <a:r>
              <a:rPr b="0" i="1" dirty="0">
                <a:solidFill>
                  <a:srgbClr val="627184"/>
                </a:solidFill>
                <a:latin typeface="Aptos"/>
              </a:rPr>
              <a:t>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682496"/>
            <a:ext cx="5257800" cy="3319272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1901952"/>
            <a:ext cx="1572768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952244"/>
            <a:ext cx="1426464" cy="1737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4B9B91"/>
                </a:solidFill>
                <a:latin typeface="Aptos"/>
              </a:rPr>
              <a:t>MÁS ÚTIL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45778"/>
            <a:ext cx="4572000" cy="17358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243447"/>
                </a:solidFill>
                <a:latin typeface="Aptos"/>
              </a:rPr>
              <a:t>«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Crea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una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página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web de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lista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de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tareas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,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en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español</a:t>
            </a:r>
            <a:r>
              <a:rPr b="0" i="0" dirty="0">
                <a:solidFill>
                  <a:srgbClr val="243447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Permite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añadir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y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completar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tareas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;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guarda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los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datos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en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el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navegador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.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Diseño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accesible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y adaptable.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Incluye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instrucciones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para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ejecutar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y 3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pruebas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manuales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. No uses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servicios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externos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.»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21808"/>
            <a:ext cx="102870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>
                <a:solidFill>
                  <a:srgbClr val="4B9B91"/>
                </a:solidFill>
                <a:latin typeface="Aptos"/>
              </a:rPr>
              <a:t>Iterar: pedir plan → generar → ejecutar → compartir el error concreto → ajustar → probar.  [5]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08 · EJEMPLO DE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4628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pt-BR" sz="2400" b="1" i="0" u="none" dirty="0">
                <a:solidFill>
                  <a:srgbClr val="0F172A"/>
                </a:solidFill>
                <a:latin typeface="Plus Jakarta Sans"/>
              </a:rPr>
              <a:t>Plataformas de IA Generativa Aplicadas al Código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82496"/>
            <a:ext cx="4983480" cy="3319272"/>
          </a:xfrm>
          <a:prstGeom prst="roundRect">
            <a:avLst>
              <a:gd name="adj" fmla="val 12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7" y="1901951"/>
            <a:ext cx="3329041" cy="3648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5682" y="1863012"/>
            <a:ext cx="448056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MX" sz="2000" b="1" i="0" u="none" dirty="0">
                <a:solidFill>
                  <a:srgbClr val="0F172A"/>
                </a:solidFill>
                <a:latin typeface="Plus Jakarta Sans"/>
              </a:rPr>
              <a:t>Modelos Fundacionales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544138"/>
            <a:ext cx="4434840" cy="76957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s-ES" sz="1800" b="0" i="0" u="none" dirty="0" err="1">
                <a:solidFill>
                  <a:srgbClr val="475569"/>
                </a:solidFill>
                <a:latin typeface="Plus Jakarta Sans"/>
              </a:rPr>
              <a:t>LLMs</a:t>
            </a:r>
            <a:r>
              <a:rPr lang="es-ES" sz="1800" b="0" i="0" u="none" dirty="0">
                <a:solidFill>
                  <a:srgbClr val="475569"/>
                </a:solidFill>
                <a:latin typeface="Plus Jakarta Sans"/>
              </a:rPr>
              <a:t> entrenados en repositorios masivos con comprensión profunda de sintaxis y arquitectura.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682496"/>
            <a:ext cx="5257800" cy="3319272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1901952"/>
            <a:ext cx="2820182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846957"/>
            <a:ext cx="282018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MX" sz="2000" b="1" i="0" u="none">
                <a:solidFill>
                  <a:srgbClr val="0F172A"/>
                </a:solidFill>
                <a:latin typeface="Plus Jakarta Sans"/>
              </a:rPr>
              <a:t>Agentes Autónomos</a:t>
            </a:r>
            <a:endParaRPr lang="es-MX" sz="20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535227"/>
            <a:ext cx="4572000" cy="53873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s-ES" sz="1800" b="0" i="0" u="none" dirty="0">
                <a:solidFill>
                  <a:srgbClr val="475569"/>
                </a:solidFill>
                <a:latin typeface="Plus Jakarta Sans"/>
              </a:rPr>
              <a:t>Sistemas capaces de planificar, escribir, ejecutar pruebas y corregir errores de forma autónoma.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514965"/>
            <a:ext cx="102870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es-ES" b="1" i="0" dirty="0" err="1">
                <a:solidFill>
                  <a:srgbClr val="4B9B91"/>
                </a:solidFill>
                <a:latin typeface="Aptos"/>
              </a:rPr>
              <a:t>Areas</a:t>
            </a:r>
            <a:r>
              <a:rPr lang="es-ES" b="1" i="0" dirty="0">
                <a:solidFill>
                  <a:srgbClr val="4B9B91"/>
                </a:solidFill>
                <a:latin typeface="Aptos"/>
              </a:rPr>
              <a:t>: Machine </a:t>
            </a:r>
            <a:r>
              <a:rPr lang="es-ES" b="1" i="0" dirty="0" err="1">
                <a:solidFill>
                  <a:srgbClr val="4B9B91"/>
                </a:solidFill>
                <a:latin typeface="Aptos"/>
              </a:rPr>
              <a:t>Learning</a:t>
            </a:r>
            <a:r>
              <a:rPr lang="es-ES" b="1" i="0" dirty="0">
                <a:solidFill>
                  <a:srgbClr val="4B9B91"/>
                </a:solidFill>
                <a:latin typeface="Aptos"/>
              </a:rPr>
              <a:t>, Deep </a:t>
            </a:r>
            <a:r>
              <a:rPr lang="es-ES" b="1" i="0" dirty="0" err="1">
                <a:solidFill>
                  <a:srgbClr val="4B9B91"/>
                </a:solidFill>
                <a:latin typeface="Aptos"/>
              </a:rPr>
              <a:t>Learning</a:t>
            </a:r>
            <a:r>
              <a:rPr lang="es-ES" b="1" i="0" dirty="0">
                <a:solidFill>
                  <a:srgbClr val="4B9B91"/>
                </a:solidFill>
                <a:latin typeface="Aptos"/>
              </a:rPr>
              <a:t>, Redes Neuronales y Modelos de IA</a:t>
            </a:r>
            <a:endParaRPr b="1" i="0" dirty="0">
              <a:solidFill>
                <a:srgbClr val="4B9B9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7859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08 · EJEMPLO DE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4628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s-ES" sz="2400" b="1" i="0" u="none" dirty="0">
                <a:solidFill>
                  <a:srgbClr val="0F172A"/>
                </a:solidFill>
                <a:latin typeface="Plus Jakarta Sans"/>
              </a:rPr>
              <a:t>¿Qué es el "</a:t>
            </a:r>
            <a:r>
              <a:rPr lang="es-ES" sz="2400" b="1" i="0" u="none" dirty="0" err="1">
                <a:solidFill>
                  <a:srgbClr val="0F172A"/>
                </a:solidFill>
                <a:latin typeface="Plus Jakarta Sans"/>
              </a:rPr>
              <a:t>Vibe</a:t>
            </a:r>
            <a:r>
              <a:rPr lang="es-ES"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lang="es-ES" sz="2400" b="1" i="0" u="none" dirty="0" err="1">
                <a:solidFill>
                  <a:srgbClr val="0F172A"/>
                </a:solidFill>
                <a:latin typeface="Plus Jakarta Sans"/>
              </a:rPr>
              <a:t>Coding</a:t>
            </a:r>
            <a:r>
              <a:rPr lang="es-ES" sz="2400" b="1" i="0" u="none" dirty="0">
                <a:solidFill>
                  <a:srgbClr val="0F172A"/>
                </a:solidFill>
                <a:latin typeface="Plus Jakarta Sans"/>
              </a:rPr>
              <a:t>"?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82496"/>
            <a:ext cx="4983480" cy="3319272"/>
          </a:xfrm>
          <a:prstGeom prst="roundRect">
            <a:avLst>
              <a:gd name="adj" fmla="val 12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7" y="1901951"/>
            <a:ext cx="2383381" cy="3648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5682" y="1886457"/>
            <a:ext cx="2301826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MX" sz="2000" b="1" i="0" u="none" dirty="0">
                <a:solidFill>
                  <a:srgbClr val="0F172A"/>
                </a:solidFill>
                <a:latin typeface="Plus Jakarta Sans"/>
              </a:rPr>
              <a:t>Definición: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544138"/>
            <a:ext cx="4434840" cy="15967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s-ES" sz="1800" b="1" i="0" u="none" dirty="0">
                <a:solidFill>
                  <a:srgbClr val="334155"/>
                </a:solidFill>
                <a:latin typeface="Plus Jakarta Sans"/>
              </a:rPr>
              <a:t>Un estilo de desarrollo donde el humano guía la creación de software mediante lenguaje natural y directrices de alto nivel, evaluando resultados en lugar de escribir código línea por línea.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682496"/>
            <a:ext cx="5257800" cy="3319272"/>
          </a:xfrm>
          <a:prstGeom prst="roundRect">
            <a:avLst>
              <a:gd name="adj" fmla="val 12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1901952"/>
            <a:ext cx="2820182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846957"/>
            <a:ext cx="282018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MX" sz="2000" b="1" i="0" u="none" dirty="0">
                <a:solidFill>
                  <a:srgbClr val="0369A1"/>
                </a:solidFill>
                <a:latin typeface="Plus Jakarta Sans"/>
              </a:rPr>
              <a:t>Ciclo de </a:t>
            </a:r>
            <a:r>
              <a:rPr lang="es-MX" sz="2000" b="1" i="0" u="none" dirty="0" err="1">
                <a:solidFill>
                  <a:srgbClr val="0369A1"/>
                </a:solidFill>
                <a:latin typeface="Plus Jakarta Sans"/>
              </a:rPr>
              <a:t>Vibe</a:t>
            </a:r>
            <a:r>
              <a:rPr lang="es-MX" sz="2000" b="1" i="0" u="none" dirty="0">
                <a:solidFill>
                  <a:srgbClr val="0369A1"/>
                </a:solidFill>
                <a:latin typeface="Plus Jakarta Sans"/>
              </a:rPr>
              <a:t> </a:t>
            </a:r>
            <a:r>
              <a:rPr lang="es-MX" sz="2000" b="1" i="0" u="none" dirty="0" err="1">
                <a:solidFill>
                  <a:srgbClr val="0369A1"/>
                </a:solidFill>
                <a:latin typeface="Plus Jakarta Sans"/>
              </a:rPr>
              <a:t>Coding</a:t>
            </a:r>
            <a:endParaRPr lang="es-MX" sz="2000" b="1" i="0" u="none" dirty="0">
              <a:solidFill>
                <a:srgbClr val="0369A1"/>
              </a:solidFill>
              <a:latin typeface="Plus Jakarta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55080" y="2535227"/>
            <a:ext cx="4572000" cy="16928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342900" indent="-342900" algn="l">
              <a:lnSpc>
                <a:spcPts val="1800"/>
              </a:lnSpc>
              <a:buAutoNum type="arabicPeriod"/>
            </a:pPr>
            <a:r>
              <a:rPr lang="es-ES" sz="2000" b="1" u="none" dirty="0">
                <a:solidFill>
                  <a:srgbClr val="0369A1"/>
                </a:solidFill>
                <a:latin typeface="Plus Jakarta Sans"/>
              </a:rPr>
              <a:t>Describir el objetivo deseado.</a:t>
            </a:r>
          </a:p>
          <a:p>
            <a:pPr algn="l">
              <a:lnSpc>
                <a:spcPts val="1800"/>
              </a:lnSpc>
            </a:pPr>
            <a:r>
              <a:rPr lang="es-ES" sz="2000" b="1" dirty="0"/>
              <a:t>
</a:t>
            </a:r>
            <a:r>
              <a:rPr lang="es-ES" sz="2000" b="1" u="none" dirty="0">
                <a:solidFill>
                  <a:srgbClr val="0369A1"/>
                </a:solidFill>
                <a:latin typeface="Plus Jakarta Sans"/>
              </a:rPr>
              <a:t> 2. Generación automática por la IA.</a:t>
            </a:r>
          </a:p>
          <a:p>
            <a:pPr algn="l">
              <a:lnSpc>
                <a:spcPts val="1800"/>
              </a:lnSpc>
            </a:pPr>
            <a:r>
              <a:rPr lang="es-ES" sz="2000" b="1" dirty="0"/>
              <a:t>
</a:t>
            </a:r>
            <a:r>
              <a:rPr lang="es-ES" sz="2000" b="1" u="none" dirty="0">
                <a:solidFill>
                  <a:srgbClr val="0369A1"/>
                </a:solidFill>
                <a:latin typeface="Plus Jakarta Sans"/>
              </a:rPr>
              <a:t> 3. Prueba y refinamiento iterativo.</a:t>
            </a:r>
          </a:p>
          <a:p>
            <a:pPr algn="l">
              <a:lnSpc>
                <a:spcPts val="1800"/>
              </a:lnSpc>
            </a:pPr>
            <a:r>
              <a:rPr lang="es-ES" sz="2000" b="1" dirty="0"/>
              <a:t>
</a:t>
            </a:r>
            <a:r>
              <a:rPr lang="es-ES" sz="2000" b="1" u="none" dirty="0">
                <a:solidFill>
                  <a:srgbClr val="0369A1"/>
                </a:solidFill>
                <a:latin typeface="Plus Jakarta Sans"/>
              </a:rPr>
              <a:t> 4. Validación de seguridad y arquitectura</a:t>
            </a:r>
            <a:r>
              <a:rPr lang="es-ES" sz="2000" b="1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514965"/>
            <a:ext cx="10287000" cy="3175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ES" sz="1800" b="1" i="0" u="none" dirty="0">
                <a:solidFill>
                  <a:srgbClr val="002060"/>
                </a:solidFill>
                <a:latin typeface="Plus Jakarta Sans"/>
              </a:rPr>
              <a:t>El rol del programador evoluciona de teclear sintaxis a actuar como director técnico y validador de calidad.</a:t>
            </a:r>
          </a:p>
        </p:txBody>
      </p:sp>
    </p:spTree>
    <p:extLst>
      <p:ext uri="{BB962C8B-B14F-4D97-AF65-F5344CB8AC3E}">
        <p14:creationId xmlns:p14="http://schemas.microsoft.com/office/powerpoint/2010/main" val="1825392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09 · UNA PRÁCTICA EMERGENTE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Vibe coding: describir, generar, probar e iterar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664208"/>
            <a:ext cx="5486400" cy="1417320"/>
          </a:xfrm>
          <a:prstGeom prst="roundRect">
            <a:avLst>
              <a:gd name="adj" fmla="val 12000"/>
            </a:avLst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14984" y="1767078"/>
            <a:ext cx="4956048" cy="11818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0" dirty="0" err="1">
                <a:solidFill>
                  <a:srgbClr val="243447"/>
                </a:solidFill>
                <a:latin typeface="Aptos"/>
              </a:rPr>
              <a:t>Término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difundido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por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>
                <a:solidFill>
                  <a:srgbClr val="243447"/>
                </a:solidFill>
                <a:latin typeface="Aptos"/>
              </a:rPr>
              <a:t>Andrej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Karpathy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en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2025 para un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estilo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de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creación</a:t>
            </a:r>
            <a:r>
              <a:rPr lang="es-ES" b="0" i="0" dirty="0">
                <a:solidFill>
                  <a:srgbClr val="243447"/>
                </a:solidFill>
                <a:latin typeface="Aptos"/>
              </a:rPr>
              <a:t>,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donde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se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guía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el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código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principalmente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con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lenguaje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natural y se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itera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con un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modelo</a:t>
            </a:r>
            <a:r>
              <a:rPr b="0" i="0" dirty="0">
                <a:solidFill>
                  <a:srgbClr val="243447"/>
                </a:solidFill>
                <a:latin typeface="Apto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364992"/>
            <a:ext cx="517550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4B9B91"/>
                </a:solidFill>
                <a:latin typeface="Aptos"/>
              </a:rPr>
              <a:t>Funciona mejor 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776472"/>
            <a:ext cx="498348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 i="0" dirty="0" err="1">
                <a:solidFill>
                  <a:srgbClr val="627184"/>
                </a:solidFill>
                <a:latin typeface="Aptos"/>
              </a:rPr>
              <a:t>Prototipos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, ideas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visuales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,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automatizaciones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pequeñas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y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aprendizaje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exploratorio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: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ciclos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rápidos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y bajo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coste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 de </a:t>
            </a:r>
            <a:r>
              <a:rPr sz="1600" b="0" i="0" dirty="0" err="1">
                <a:solidFill>
                  <a:srgbClr val="627184"/>
                </a:solidFill>
                <a:latin typeface="Aptos"/>
              </a:rPr>
              <a:t>cambio</a:t>
            </a:r>
            <a:r>
              <a:rPr sz="1600" b="0" i="0" dirty="0">
                <a:solidFill>
                  <a:srgbClr val="627184"/>
                </a:solidFill>
                <a:latin typeface="Aptos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1664208"/>
            <a:ext cx="4526280" cy="3355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22592" y="1901952"/>
            <a:ext cx="3977639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1" dirty="0" err="1">
                <a:solidFill>
                  <a:srgbClr val="2434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Ciclo</a:t>
            </a:r>
            <a:r>
              <a:rPr b="1" i="1" dirty="0">
                <a:solidFill>
                  <a:srgbClr val="2434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 de </a:t>
            </a:r>
            <a:r>
              <a:rPr b="1" i="1" dirty="0" err="1">
                <a:solidFill>
                  <a:srgbClr val="24344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/>
              </a:rPr>
              <a:t>creación</a:t>
            </a:r>
            <a:endParaRPr b="1" i="1" dirty="0">
              <a:solidFill>
                <a:srgbClr val="24344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040880" y="2578608"/>
            <a:ext cx="1645920" cy="685800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7150608" y="2779776"/>
            <a:ext cx="274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4747" y="2764146"/>
            <a:ext cx="105156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Describir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006840" y="2578608"/>
            <a:ext cx="1645920" cy="685800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9116567" y="2779776"/>
            <a:ext cx="274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9787" y="2764146"/>
            <a:ext cx="105156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Generar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040880" y="3639311"/>
            <a:ext cx="1645920" cy="685800"/>
          </a:xfrm>
          <a:prstGeom prst="roundRect">
            <a:avLst>
              <a:gd name="adj" fmla="val 12000"/>
            </a:avLst>
          </a:prstGeom>
          <a:solidFill>
            <a:srgbClr val="F3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7150608" y="3840479"/>
            <a:ext cx="274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86012" y="3824849"/>
            <a:ext cx="105156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Ejecutar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006840" y="3639311"/>
            <a:ext cx="1645920" cy="685800"/>
          </a:xfrm>
          <a:prstGeom prst="roundRect">
            <a:avLst>
              <a:gd name="adj" fmla="val 12000"/>
            </a:avLst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9116567" y="3840479"/>
            <a:ext cx="27432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4B9B91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8862" y="3817034"/>
            <a:ext cx="105156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Ajustar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6112" y="5330952"/>
            <a:ext cx="1037844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0" i="1" dirty="0">
                <a:solidFill>
                  <a:srgbClr val="627184"/>
                </a:solidFill>
                <a:latin typeface="Aptos"/>
              </a:rPr>
              <a:t>No es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una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garantía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de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calidad</a:t>
            </a:r>
            <a:r>
              <a:rPr b="0" i="1" dirty="0">
                <a:solidFill>
                  <a:srgbClr val="627184"/>
                </a:solidFill>
                <a:latin typeface="Aptos"/>
              </a:rPr>
              <a:t>: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si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el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código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se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despliega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o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maneja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datos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reales</a:t>
            </a:r>
            <a:r>
              <a:rPr b="0" i="1" dirty="0">
                <a:solidFill>
                  <a:srgbClr val="627184"/>
                </a:solidFill>
                <a:latin typeface="Aptos"/>
              </a:rPr>
              <a:t>, hay que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comprenderlo</a:t>
            </a:r>
            <a:r>
              <a:rPr b="0" i="1" dirty="0">
                <a:solidFill>
                  <a:srgbClr val="627184"/>
                </a:solidFill>
                <a:latin typeface="Aptos"/>
              </a:rPr>
              <a:t>,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probarlo</a:t>
            </a:r>
            <a:r>
              <a:rPr b="0" i="1" dirty="0">
                <a:solidFill>
                  <a:srgbClr val="627184"/>
                </a:solidFill>
                <a:latin typeface="Aptos"/>
              </a:rPr>
              <a:t> y </a:t>
            </a:r>
            <a:r>
              <a:rPr b="0" i="1" dirty="0" err="1">
                <a:solidFill>
                  <a:srgbClr val="627184"/>
                </a:solidFill>
                <a:latin typeface="Aptos"/>
              </a:rPr>
              <a:t>mantenerlo</a:t>
            </a:r>
            <a:r>
              <a:rPr b="0" i="1" dirty="0">
                <a:solidFill>
                  <a:srgbClr val="627184"/>
                </a:solidFill>
                <a:latin typeface="Aptos"/>
              </a:rPr>
              <a:t>.  [6]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08 · EJEMPLO DE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4628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s-ES" sz="2400" b="1" i="0" u="none" dirty="0">
                <a:solidFill>
                  <a:srgbClr val="0F172A"/>
                </a:solidFill>
                <a:latin typeface="Plus Jakarta Sans"/>
              </a:rPr>
              <a:t>El Desafío Humano: Criterio sobre Sintaxis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82496"/>
            <a:ext cx="4983480" cy="3319272"/>
          </a:xfrm>
          <a:prstGeom prst="roundRect">
            <a:avLst>
              <a:gd name="adj" fmla="val 12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24127" y="1901951"/>
            <a:ext cx="2383381" cy="36486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5682" y="1886457"/>
            <a:ext cx="2621866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s-MX" sz="2000" b="1" i="0" u="none" dirty="0">
                <a:solidFill>
                  <a:srgbClr val="0F172A"/>
                </a:solidFill>
                <a:latin typeface="Plus Jakarta Sans"/>
              </a:rPr>
              <a:t>Criterio Crítico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7" y="2722828"/>
            <a:ext cx="4434840" cy="776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s-ES" sz="2000" b="1" i="0" u="none" dirty="0">
                <a:solidFill>
                  <a:srgbClr val="475569"/>
                </a:solidFill>
                <a:latin typeface="Plus Jakarta Sans"/>
              </a:rPr>
              <a:t>La velocidad del </a:t>
            </a:r>
            <a:r>
              <a:rPr lang="es-ES" sz="2000" b="1" i="0" u="none" dirty="0" err="1">
                <a:solidFill>
                  <a:srgbClr val="475569"/>
                </a:solidFill>
                <a:latin typeface="Plus Jakarta Sans"/>
              </a:rPr>
              <a:t>vibe</a:t>
            </a:r>
            <a:r>
              <a:rPr lang="es-ES" sz="2000" b="1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es-ES" sz="2000" b="1" i="0" u="none" dirty="0" err="1">
                <a:solidFill>
                  <a:srgbClr val="475569"/>
                </a:solidFill>
                <a:latin typeface="Plus Jakarta Sans"/>
              </a:rPr>
              <a:t>coding</a:t>
            </a:r>
            <a:r>
              <a:rPr lang="es-ES" sz="2000" b="1" i="0" u="none" dirty="0">
                <a:solidFill>
                  <a:srgbClr val="475569"/>
                </a:solidFill>
                <a:latin typeface="Plus Jakarta Sans"/>
              </a:rPr>
              <a:t> exige supervisión rigurosa en seguridad y lógica.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1682496"/>
            <a:ext cx="5257800" cy="3319272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55080" y="1901952"/>
            <a:ext cx="2820182" cy="301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846957"/>
            <a:ext cx="2820182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MX" sz="2000" b="1" i="0" u="none" dirty="0">
                <a:solidFill>
                  <a:srgbClr val="0F172A"/>
                </a:solidFill>
                <a:latin typeface="Plus Jakarta Sans"/>
              </a:rPr>
              <a:t>Nuevas Habilidades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35227"/>
            <a:ext cx="4572000" cy="1238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s-ES" sz="2000" b="1" i="0" u="none" dirty="0">
                <a:solidFill>
                  <a:srgbClr val="475569"/>
                </a:solidFill>
                <a:latin typeface="Plus Jakarta Sans"/>
              </a:rPr>
              <a:t>Dominio de la arquitectura.</a:t>
            </a: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s-ES" sz="2000" b="1" i="0" u="none" dirty="0">
              <a:solidFill>
                <a:srgbClr val="475569"/>
              </a:solidFill>
              <a:latin typeface="Plus Jakarta Sans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s-ES" sz="2000" b="1" i="0" u="none" dirty="0">
                <a:solidFill>
                  <a:srgbClr val="475569"/>
                </a:solidFill>
                <a:latin typeface="Plus Jakarta Sans"/>
              </a:rPr>
              <a:t>Ingeniería de </a:t>
            </a:r>
            <a:r>
              <a:rPr lang="es-ES" sz="2000" b="1" i="0" u="none" dirty="0" err="1">
                <a:solidFill>
                  <a:srgbClr val="475569"/>
                </a:solidFill>
                <a:latin typeface="Plus Jakarta Sans"/>
              </a:rPr>
              <a:t>prompts</a:t>
            </a:r>
            <a:r>
              <a:rPr lang="es-ES" sz="2000" b="1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es-ES" sz="2000" b="1" i="0" u="none" dirty="0">
              <a:solidFill>
                <a:srgbClr val="475569"/>
              </a:solidFill>
              <a:latin typeface="Plus Jakarta Sans"/>
            </a:endParaRPr>
          </a:p>
          <a:p>
            <a:pPr marL="342900" indent="-342900" algn="l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s-ES" sz="2000" b="1" i="0" u="none" dirty="0">
                <a:solidFill>
                  <a:srgbClr val="475569"/>
                </a:solidFill>
                <a:latin typeface="Plus Jakarta Sans"/>
              </a:rPr>
              <a:t>Validación automatizada.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5514965"/>
            <a:ext cx="10287000" cy="31752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ES" sz="1800" b="1" i="0" u="none" dirty="0">
                <a:solidFill>
                  <a:srgbClr val="002060"/>
                </a:solidFill>
                <a:latin typeface="Plus Jakarta Sans"/>
              </a:rPr>
              <a:t>El rol del programador evoluciona: al de supervisor y validador de calidad.</a:t>
            </a:r>
          </a:p>
        </p:txBody>
      </p:sp>
    </p:spTree>
    <p:extLst>
      <p:ext uri="{BB962C8B-B14F-4D97-AF65-F5344CB8AC3E}">
        <p14:creationId xmlns:p14="http://schemas.microsoft.com/office/powerpoint/2010/main" val="3063671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10 · TENDENCIAS Y CRITERIO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>
                <a:solidFill>
                  <a:srgbClr val="243447"/>
                </a:solidFill>
                <a:latin typeface="Aptos"/>
              </a:rPr>
              <a:t>La velocidad aumenta; la responsabilidad no se delega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4892040" cy="3566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343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>
                <a:solidFill>
                  <a:srgbClr val="243447"/>
                </a:solidFill>
                <a:latin typeface="Aptos"/>
              </a:rPr>
              <a:t>Lo que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reportan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desarrolladores</a:t>
            </a:r>
            <a:endParaRPr b="1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7280" y="2496312"/>
            <a:ext cx="4206240" cy="125880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 dirty="0">
                <a:solidFill>
                  <a:srgbClr val="4B9B91"/>
                </a:solidFill>
                <a:latin typeface="Aptos"/>
              </a:rPr>
              <a:t>≈70% de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quienes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usan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agentes</a:t>
            </a:r>
            <a:r>
              <a:rPr b="1" i="0" dirty="0">
                <a:solidFill>
                  <a:srgbClr val="4B9B91"/>
                </a:solidFill>
                <a:latin typeface="Aptos"/>
              </a:rPr>
              <a:t>: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menos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tiempo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en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tareas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concretas</a:t>
            </a:r>
            <a:r>
              <a:rPr lang="es-ES" b="1" i="0" dirty="0">
                <a:solidFill>
                  <a:srgbClr val="4B9B91"/>
                </a:solidFill>
                <a:latin typeface="Aptos"/>
              </a:rPr>
              <a:t>.</a:t>
            </a:r>
            <a:endParaRPr b="1" i="0" dirty="0">
              <a:solidFill>
                <a:srgbClr val="4B9B91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1" i="0" dirty="0">
                <a:solidFill>
                  <a:srgbClr val="4B9B91"/>
                </a:solidFill>
                <a:latin typeface="Aptos"/>
              </a:rPr>
              <a:t>69%: mayor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productividad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personal</a:t>
            </a:r>
            <a:r>
              <a:rPr lang="es-ES" b="1" i="0" dirty="0">
                <a:solidFill>
                  <a:srgbClr val="4B9B91"/>
                </a:solidFill>
                <a:latin typeface="Aptos"/>
              </a:rPr>
              <a:t>.</a:t>
            </a:r>
            <a:endParaRPr b="1" i="0" dirty="0">
              <a:solidFill>
                <a:srgbClr val="4B9B91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1" i="0" dirty="0">
                <a:solidFill>
                  <a:srgbClr val="4B9B91"/>
                </a:solidFill>
                <a:latin typeface="Aptos"/>
              </a:rPr>
              <a:t>17%: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mejor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colaboración</a:t>
            </a:r>
            <a:r>
              <a:rPr b="1" i="0" dirty="0">
                <a:solidFill>
                  <a:srgbClr val="4B9B91"/>
                </a:solidFill>
                <a:latin typeface="Aptos"/>
              </a:rPr>
              <a:t> del </a:t>
            </a:r>
            <a:r>
              <a:rPr b="1" i="0" dirty="0" err="1">
                <a:solidFill>
                  <a:srgbClr val="4B9B91"/>
                </a:solidFill>
                <a:latin typeface="Aptos"/>
              </a:rPr>
              <a:t>equipo</a:t>
            </a:r>
            <a:r>
              <a:rPr lang="es-ES" b="1" i="0" dirty="0">
                <a:solidFill>
                  <a:srgbClr val="4B9B91"/>
                </a:solidFill>
                <a:latin typeface="Aptos"/>
              </a:rPr>
              <a:t>.</a:t>
            </a:r>
            <a:endParaRPr b="1" i="0" dirty="0">
              <a:solidFill>
                <a:srgbClr val="4B9B91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5040" y="4398883"/>
            <a:ext cx="4490720" cy="8125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es-ES" sz="1600" b="0" i="1" dirty="0">
                <a:solidFill>
                  <a:srgbClr val="627184"/>
                </a:solidFill>
                <a:latin typeface="Aptos"/>
              </a:rPr>
              <a:t>*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Encuesta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Stack Overflow 2025: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impacto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individual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percibido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más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claro que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el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impacto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de </a:t>
            </a:r>
            <a:r>
              <a:rPr sz="1600" b="0" i="1" dirty="0" err="1">
                <a:solidFill>
                  <a:srgbClr val="627184"/>
                </a:solidFill>
                <a:latin typeface="Aptos"/>
              </a:rPr>
              <a:t>equipo</a:t>
            </a:r>
            <a:r>
              <a:rPr sz="1600" b="0" i="1" dirty="0">
                <a:solidFill>
                  <a:srgbClr val="627184"/>
                </a:solidFill>
                <a:latin typeface="Aptos"/>
              </a:rPr>
              <a:t>  [7]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166360" cy="3566160"/>
          </a:xfrm>
          <a:prstGeom prst="roundRect">
            <a:avLst>
              <a:gd name="adj" fmla="val 12000"/>
            </a:avLst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920240"/>
            <a:ext cx="45720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1" i="0">
                <a:solidFill>
                  <a:srgbClr val="243447"/>
                </a:solidFill>
                <a:latin typeface="Aptos"/>
              </a:rPr>
              <a:t>Un flujo responsable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23160"/>
            <a:ext cx="4434840" cy="16127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243447"/>
                </a:solidFill>
                <a:latin typeface="Aptos"/>
              </a:rPr>
              <a:t>✓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Definir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alcance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y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restricciones</a:t>
            </a:r>
            <a:r>
              <a:rPr lang="es-ES" b="0" i="0" dirty="0">
                <a:solidFill>
                  <a:srgbClr val="243447"/>
                </a:solidFill>
                <a:latin typeface="Aptos"/>
              </a:rPr>
              <a:t>.</a:t>
            </a:r>
            <a:endParaRPr b="0" i="0" dirty="0">
              <a:solidFill>
                <a:srgbClr val="24344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243447"/>
                </a:solidFill>
                <a:latin typeface="Aptos"/>
              </a:rPr>
              <a:t>✓ No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compartir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secretos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ni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datos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sensibles</a:t>
            </a:r>
            <a:r>
              <a:rPr lang="es-ES" b="0" i="0" dirty="0">
                <a:solidFill>
                  <a:srgbClr val="243447"/>
                </a:solidFill>
                <a:latin typeface="Aptos"/>
              </a:rPr>
              <a:t>.</a:t>
            </a:r>
            <a:endParaRPr b="0" i="0" dirty="0">
              <a:solidFill>
                <a:srgbClr val="24344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243447"/>
                </a:solidFill>
                <a:latin typeface="Aptos"/>
              </a:rPr>
              <a:t>✓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Revisar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cambios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y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dependencias</a:t>
            </a:r>
            <a:r>
              <a:rPr lang="es-ES" b="0" i="0" dirty="0">
                <a:solidFill>
                  <a:srgbClr val="243447"/>
                </a:solidFill>
                <a:latin typeface="Aptos"/>
              </a:rPr>
              <a:t>.</a:t>
            </a:r>
            <a:endParaRPr b="0" i="0" dirty="0">
              <a:solidFill>
                <a:srgbClr val="24344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243447"/>
                </a:solidFill>
                <a:latin typeface="Aptos"/>
              </a:rPr>
              <a:t>✓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Ejecutar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pruebas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y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análisis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de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seguridad</a:t>
            </a:r>
            <a:r>
              <a:rPr lang="es-ES" b="0" i="0" dirty="0">
                <a:solidFill>
                  <a:srgbClr val="243447"/>
                </a:solidFill>
                <a:latin typeface="Aptos"/>
              </a:rPr>
              <a:t>.</a:t>
            </a:r>
            <a:endParaRPr b="0" i="0" dirty="0">
              <a:solidFill>
                <a:srgbClr val="243447"/>
              </a:solidFill>
              <a:latin typeface="Aptos"/>
            </a:endParaRPr>
          </a:p>
          <a:p>
            <a:pPr algn="l">
              <a:spcAft>
                <a:spcPts val="300"/>
              </a:spcAft>
            </a:pPr>
            <a:r>
              <a:rPr b="0" i="0" dirty="0">
                <a:solidFill>
                  <a:srgbClr val="243447"/>
                </a:solidFill>
                <a:latin typeface="Aptos"/>
              </a:rPr>
              <a:t>✓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Medir</a:t>
            </a:r>
            <a:r>
              <a:rPr b="0" i="0" dirty="0">
                <a:solidFill>
                  <a:srgbClr val="243447"/>
                </a:solidFill>
                <a:latin typeface="Aptos"/>
              </a:rPr>
              <a:t> antes de </a:t>
            </a:r>
            <a:r>
              <a:rPr b="0" i="0" dirty="0" err="1">
                <a:solidFill>
                  <a:srgbClr val="243447"/>
                </a:solidFill>
                <a:latin typeface="Aptos"/>
              </a:rPr>
              <a:t>desplegar</a:t>
            </a:r>
            <a:r>
              <a:rPr lang="es-ES" b="0" i="0" dirty="0">
                <a:solidFill>
                  <a:srgbClr val="243447"/>
                </a:solidFill>
                <a:latin typeface="Aptos"/>
              </a:rPr>
              <a:t>.</a:t>
            </a:r>
            <a:endParaRPr b="0" i="0" dirty="0">
              <a:solidFill>
                <a:srgbClr val="243447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15568" y="5486399"/>
            <a:ext cx="9966960" cy="713231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35024" y="5519307"/>
            <a:ext cx="9555480" cy="666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b="1" i="0" dirty="0" err="1">
                <a:solidFill>
                  <a:srgbClr val="243447"/>
                </a:solidFill>
                <a:latin typeface="Aptos"/>
              </a:rPr>
              <a:t>Tendencia</a:t>
            </a:r>
            <a:r>
              <a:rPr b="1" i="0" dirty="0">
                <a:solidFill>
                  <a:srgbClr val="243447"/>
                </a:solidFill>
                <a:latin typeface="Aptos"/>
              </a:rPr>
              <a:t>: </a:t>
            </a:r>
            <a:r>
              <a:rPr lang="es-ES" b="1" i="0" dirty="0">
                <a:solidFill>
                  <a:srgbClr val="243447"/>
                </a:solidFill>
                <a:latin typeface="Aptos"/>
              </a:rPr>
              <a:t>A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sistentes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más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contextuales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y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agentes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con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herramientas</a:t>
            </a:r>
            <a:r>
              <a:rPr lang="es-ES" b="1" i="0" dirty="0">
                <a:solidFill>
                  <a:srgbClr val="243447"/>
                </a:solidFill>
                <a:latin typeface="Aptos"/>
              </a:rPr>
              <a:t>.</a:t>
            </a:r>
          </a:p>
          <a:p>
            <a:pPr algn="ctr">
              <a:spcAft>
                <a:spcPts val="300"/>
              </a:spcAft>
            </a:pPr>
            <a:r>
              <a:rPr lang="es-ES" b="1" dirty="0">
                <a:solidFill>
                  <a:srgbClr val="243447"/>
                </a:solidFill>
                <a:latin typeface="Aptos"/>
              </a:rPr>
              <a:t>L</a:t>
            </a:r>
            <a:r>
              <a:rPr b="1" i="0" dirty="0">
                <a:solidFill>
                  <a:srgbClr val="243447"/>
                </a:solidFill>
                <a:latin typeface="Aptos"/>
              </a:rPr>
              <a:t>a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revisión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humana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sigue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siendo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parte</a:t>
            </a:r>
            <a:r>
              <a:rPr b="1" i="0" dirty="0">
                <a:solidFill>
                  <a:srgbClr val="243447"/>
                </a:solidFill>
                <a:latin typeface="Aptos"/>
              </a:rPr>
              <a:t> del </a:t>
            </a:r>
            <a:r>
              <a:rPr b="1" i="0" dirty="0" err="1">
                <a:solidFill>
                  <a:srgbClr val="243447"/>
                </a:solidFill>
                <a:latin typeface="Aptos"/>
              </a:rPr>
              <a:t>producto</a:t>
            </a:r>
            <a:r>
              <a:rPr b="1" i="0" dirty="0">
                <a:solidFill>
                  <a:srgbClr val="243447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10 · TENDENCIAS Y CRITERIO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5669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lnSpc>
                <a:spcPts val="3959"/>
              </a:lnSpc>
            </a:pPr>
            <a:r>
              <a:rPr lang="es-ES" sz="3200" b="1" i="0" u="none" dirty="0">
                <a:solidFill>
                  <a:schemeClr val="accent6">
                    <a:lumMod val="75000"/>
                  </a:schemeClr>
                </a:solidFill>
                <a:latin typeface="Plus Jakarta Sans"/>
              </a:rPr>
              <a:t>El Fututo ya está Presente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192901"/>
            <a:ext cx="10332720" cy="1732710"/>
          </a:xfrm>
          <a:prstGeom prst="roundRect">
            <a:avLst>
              <a:gd name="adj" fmla="val 12000"/>
            </a:avLst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25609" y="2579894"/>
            <a:ext cx="9555480" cy="9587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2400" b="1" i="1" u="sng" dirty="0" err="1">
                <a:latin typeface="Aptos"/>
              </a:rPr>
              <a:t>Tendencia</a:t>
            </a:r>
            <a:r>
              <a:rPr sz="2400" b="1" i="0" dirty="0">
                <a:latin typeface="Aptos"/>
              </a:rPr>
              <a:t>: </a:t>
            </a:r>
            <a:r>
              <a:rPr lang="es-ES" sz="2400" b="1" i="0" u="none" dirty="0">
                <a:latin typeface="Plus Jakarta Sans"/>
              </a:rPr>
              <a:t>La programación ha dejado de ser una tarea de teclear instrucciones, para convertirse en el arte de guiar a la inteligencia artificial hacia la solución de problemas complejos.</a:t>
            </a:r>
          </a:p>
        </p:txBody>
      </p:sp>
    </p:spTree>
    <p:extLst>
      <p:ext uri="{BB962C8B-B14F-4D97-AF65-F5344CB8AC3E}">
        <p14:creationId xmlns:p14="http://schemas.microsoft.com/office/powerpoint/2010/main" val="639946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4B9B91"/>
                </a:solidFill>
                <a:latin typeface="Aptos"/>
              </a:rPr>
              <a:t>11 ·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72800" cy="473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600" b="1" i="0" dirty="0">
                <a:solidFill>
                  <a:srgbClr val="243447"/>
                </a:solidFill>
                <a:latin typeface="Aptos"/>
              </a:rPr>
              <a:t>Fuentes </a:t>
            </a:r>
            <a:r>
              <a:rPr sz="2600" b="1" i="0" dirty="0" err="1">
                <a:solidFill>
                  <a:srgbClr val="243447"/>
                </a:solidFill>
                <a:latin typeface="Aptos"/>
              </a:rPr>
              <a:t>abiertas</a:t>
            </a:r>
            <a:endParaRPr sz="2600" b="1" i="0" dirty="0">
              <a:solidFill>
                <a:srgbClr val="243447"/>
              </a:solidFill>
              <a:latin typeface="Aptos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58368" y="1298448"/>
            <a:ext cx="10881360" cy="0"/>
          </a:xfrm>
          <a:prstGeom prst="line">
            <a:avLst/>
          </a:prstGeom>
          <a:ln w="1270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10160">
            <a:solidFill>
              <a:srgbClr val="DCE2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6556248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1" i="0">
                <a:solidFill>
                  <a:srgbClr val="627184"/>
                </a:solidFill>
                <a:latin typeface="Aptos"/>
              </a:rPr>
              <a:t>EVOLUCIÓN DE LA PROGRAMACIÓN  ·  IA Y VIBE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28816"/>
            <a:ext cx="4572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i="0">
                <a:solidFill>
                  <a:srgbClr val="627184"/>
                </a:solidFill>
                <a:latin typeface="Aptos"/>
              </a:rP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1700784"/>
            <a:ext cx="210312" cy="210312"/>
          </a:xfrm>
          <a:prstGeom prst="ellipse">
            <a:avLst/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1234440" y="1627632"/>
            <a:ext cx="5784148" cy="315471"/>
          </a:xfrm>
          <a:prstGeom prst="rect">
            <a:avLst/>
          </a:prstGeom>
          <a:noFill/>
        </p:spPr>
        <p:txBody>
          <a:bodyPr wrap="none" lIns="0" tIns="22860" rIns="0">
            <a:spAutoFit/>
          </a:bodyPr>
          <a:lstStyle/>
          <a:p>
            <a:r>
              <a:rPr sz="1600" b="1">
                <a:solidFill>
                  <a:srgbClr val="243447"/>
                </a:solidFill>
                <a:latin typeface="Aptos"/>
                <a:hlinkClick r:id="rId2"/>
              </a:rPr>
              <a:t>[1] IBM — Historia de FORTRAN (1957)</a:t>
            </a:r>
            <a:r>
              <a:rPr sz="1050">
                <a:solidFill>
                  <a:srgbClr val="4B9B91"/>
                </a:solidFill>
                <a:latin typeface="Aptos"/>
                <a:hlinkClick r:id="rId2"/>
              </a:rPr>
              <a:t>  ·  https://www.ibm.com/history/fortran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22576"/>
            <a:ext cx="210312" cy="210312"/>
          </a:xfrm>
          <a:prstGeom prst="ellipse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1234440" y="2249424"/>
            <a:ext cx="9581597" cy="315471"/>
          </a:xfrm>
          <a:prstGeom prst="rect">
            <a:avLst/>
          </a:prstGeom>
          <a:noFill/>
        </p:spPr>
        <p:txBody>
          <a:bodyPr wrap="none" lIns="0" tIns="22860" rIns="0">
            <a:spAutoFit/>
          </a:bodyPr>
          <a:lstStyle/>
          <a:p>
            <a:r>
              <a:rPr sz="1600" b="1">
                <a:solidFill>
                  <a:srgbClr val="243447"/>
                </a:solidFill>
                <a:latin typeface="Aptos"/>
                <a:hlinkClick r:id="rId3"/>
              </a:rPr>
              <a:t>[2] Computer History Museum — Software languages timeline</a:t>
            </a:r>
            <a:r>
              <a:rPr sz="1050">
                <a:solidFill>
                  <a:srgbClr val="4B9B91"/>
                </a:solidFill>
                <a:latin typeface="Aptos"/>
                <a:hlinkClick r:id="rId3"/>
              </a:rPr>
              <a:t>  ·  https://www.computerhistory.org/timeline/software-languages/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2944368"/>
            <a:ext cx="210312" cy="210312"/>
          </a:xfrm>
          <a:prstGeom prst="ellipse">
            <a:avLst/>
          </a:prstGeom>
          <a:solidFill>
            <a:srgbClr val="E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1234440" y="2871216"/>
            <a:ext cx="7759432" cy="315471"/>
          </a:xfrm>
          <a:prstGeom prst="rect">
            <a:avLst/>
          </a:prstGeom>
          <a:noFill/>
        </p:spPr>
        <p:txBody>
          <a:bodyPr wrap="none" lIns="0" tIns="22860" rIns="0">
            <a:spAutoFit/>
          </a:bodyPr>
          <a:lstStyle/>
          <a:p>
            <a:r>
              <a:rPr sz="1600" b="1" dirty="0">
                <a:solidFill>
                  <a:srgbClr val="243447"/>
                </a:solidFill>
                <a:latin typeface="Aptos"/>
                <a:hlinkClick r:id="rId4"/>
              </a:rPr>
              <a:t>[3] Python — Tutorial </a:t>
            </a:r>
            <a:r>
              <a:rPr sz="1600" b="1" dirty="0" err="1">
                <a:solidFill>
                  <a:srgbClr val="243447"/>
                </a:solidFill>
                <a:latin typeface="Aptos"/>
                <a:hlinkClick r:id="rId4"/>
              </a:rPr>
              <a:t>oficial</a:t>
            </a:r>
            <a:r>
              <a:rPr sz="1600" b="1" dirty="0">
                <a:solidFill>
                  <a:srgbClr val="243447"/>
                </a:solidFill>
                <a:latin typeface="Aptos"/>
                <a:hlinkClick r:id="rId4"/>
              </a:rPr>
              <a:t>: </a:t>
            </a:r>
            <a:r>
              <a:rPr sz="1600" b="1" dirty="0" err="1">
                <a:solidFill>
                  <a:srgbClr val="243447"/>
                </a:solidFill>
                <a:latin typeface="Aptos"/>
                <a:hlinkClick r:id="rId4"/>
              </a:rPr>
              <a:t>intérprete</a:t>
            </a:r>
            <a:r>
              <a:rPr sz="1600" b="1" dirty="0">
                <a:solidFill>
                  <a:srgbClr val="243447"/>
                </a:solidFill>
                <a:latin typeface="Aptos"/>
                <a:hlinkClick r:id="rId4"/>
              </a:rPr>
              <a:t> y </a:t>
            </a:r>
            <a:r>
              <a:rPr sz="1600" b="1" dirty="0" err="1">
                <a:solidFill>
                  <a:srgbClr val="243447"/>
                </a:solidFill>
                <a:latin typeface="Aptos"/>
                <a:hlinkClick r:id="rId4"/>
              </a:rPr>
              <a:t>ejecución</a:t>
            </a:r>
            <a:r>
              <a:rPr sz="1050" dirty="0">
                <a:solidFill>
                  <a:srgbClr val="4B9B91"/>
                </a:solidFill>
                <a:latin typeface="Aptos"/>
                <a:hlinkClick r:id="rId4"/>
              </a:rPr>
              <a:t>  ·  https://docs.python.org/3/tutorial/interpreter.html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66160"/>
            <a:ext cx="210312" cy="210312"/>
          </a:xfrm>
          <a:prstGeom prst="ellipse">
            <a:avLst/>
          </a:prstGeom>
          <a:solidFill>
            <a:srgbClr val="F7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1234440" y="3493008"/>
            <a:ext cx="8420575" cy="315471"/>
          </a:xfrm>
          <a:prstGeom prst="rect">
            <a:avLst/>
          </a:prstGeom>
          <a:noFill/>
        </p:spPr>
        <p:txBody>
          <a:bodyPr wrap="none" lIns="0" tIns="22860" rIns="0">
            <a:spAutoFit/>
          </a:bodyPr>
          <a:lstStyle/>
          <a:p>
            <a:r>
              <a:rPr sz="1600" b="1">
                <a:solidFill>
                  <a:srgbClr val="243447"/>
                </a:solidFill>
                <a:latin typeface="Aptos"/>
                <a:hlinkClick r:id="rId5"/>
              </a:rPr>
              <a:t>[4] Visual Studio Code — Introducción y extensiones</a:t>
            </a:r>
            <a:r>
              <a:rPr sz="1050">
                <a:solidFill>
                  <a:srgbClr val="4B9B91"/>
                </a:solidFill>
                <a:latin typeface="Aptos"/>
                <a:hlinkClick r:id="rId5"/>
              </a:rPr>
              <a:t>  ·  https://code.visualstudio.com/docs/getstarted/introvideos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87952"/>
            <a:ext cx="210312" cy="210312"/>
          </a:xfrm>
          <a:prstGeom prst="ellipse">
            <a:avLst/>
          </a:prstGeom>
          <a:solidFill>
            <a:srgbClr val="F3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1234440" y="4114800"/>
            <a:ext cx="9652771" cy="315471"/>
          </a:xfrm>
          <a:prstGeom prst="rect">
            <a:avLst/>
          </a:prstGeom>
          <a:noFill/>
        </p:spPr>
        <p:txBody>
          <a:bodyPr wrap="none" lIns="0" tIns="22860" rIns="0">
            <a:spAutoFit/>
          </a:bodyPr>
          <a:lstStyle/>
          <a:p>
            <a:r>
              <a:rPr sz="1600" b="1">
                <a:solidFill>
                  <a:srgbClr val="243447"/>
                </a:solidFill>
                <a:latin typeface="Aptos"/>
                <a:hlinkClick r:id="rId6"/>
              </a:rPr>
              <a:t>[5] GitHub Docs — Copilot y buenas prácticas de prompting</a:t>
            </a:r>
            <a:r>
              <a:rPr sz="1050">
                <a:solidFill>
                  <a:srgbClr val="4B9B91"/>
                </a:solidFill>
                <a:latin typeface="Aptos"/>
                <a:hlinkClick r:id="rId6"/>
              </a:rPr>
              <a:t>  ·  https://docs.github.com/en/copilot/get-started/about-github-copilot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809744"/>
            <a:ext cx="210312" cy="210312"/>
          </a:xfrm>
          <a:prstGeom prst="ellipse">
            <a:avLst/>
          </a:prstGeom>
          <a:solidFill>
            <a:srgbClr val="DC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1234440" y="4736592"/>
            <a:ext cx="6172780" cy="315471"/>
          </a:xfrm>
          <a:prstGeom prst="rect">
            <a:avLst/>
          </a:prstGeom>
          <a:noFill/>
        </p:spPr>
        <p:txBody>
          <a:bodyPr wrap="none" lIns="0" tIns="22860" rIns="0">
            <a:spAutoFit/>
          </a:bodyPr>
          <a:lstStyle/>
          <a:p>
            <a:r>
              <a:rPr sz="1600" b="1">
                <a:solidFill>
                  <a:srgbClr val="243447"/>
                </a:solidFill>
                <a:latin typeface="Aptos"/>
                <a:hlinkClick r:id="rId7"/>
              </a:rPr>
              <a:t>[6] Andrej Karpathy — «Vibe coding» (2025)</a:t>
            </a:r>
            <a:r>
              <a:rPr sz="1050">
                <a:solidFill>
                  <a:srgbClr val="4B9B91"/>
                </a:solidFill>
                <a:latin typeface="Aptos"/>
                <a:hlinkClick r:id="rId7"/>
              </a:rPr>
              <a:t>  ·  https://karpathy.ai/vibe-coding.html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431536"/>
            <a:ext cx="210312" cy="210312"/>
          </a:xfrm>
          <a:prstGeom prst="ellipse">
            <a:avLst/>
          </a:prstGeom>
          <a:solidFill>
            <a:srgbClr val="DDE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1234440" y="5358384"/>
            <a:ext cx="6856557" cy="315471"/>
          </a:xfrm>
          <a:prstGeom prst="rect">
            <a:avLst/>
          </a:prstGeom>
          <a:noFill/>
        </p:spPr>
        <p:txBody>
          <a:bodyPr wrap="none" lIns="0" tIns="22860" rIns="0">
            <a:spAutoFit/>
          </a:bodyPr>
          <a:lstStyle/>
          <a:p>
            <a:r>
              <a:rPr sz="1600" b="1">
                <a:solidFill>
                  <a:srgbClr val="243447"/>
                </a:solidFill>
                <a:latin typeface="Aptos"/>
                <a:hlinkClick r:id="rId8"/>
              </a:rPr>
              <a:t>[7] Stack Overflow — Developer Survey 2025: AI</a:t>
            </a:r>
            <a:r>
              <a:rPr sz="1050">
                <a:solidFill>
                  <a:srgbClr val="4B9B91"/>
                </a:solidFill>
                <a:latin typeface="Aptos"/>
                <a:hlinkClick r:id="rId8"/>
              </a:rPr>
              <a:t>  ·  https://survey.stackoverflow.co/2025/ai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89904"/>
            <a:ext cx="10241280" cy="23544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 i="1">
                <a:solidFill>
                  <a:srgbClr val="627184"/>
                </a:solidFill>
                <a:latin typeface="Aptos"/>
              </a:rPr>
              <a:t>Consulta: octubre de 2026. Los ejemplos de productos son ilustrativos, no recomendaciones comerciales.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1751</Words>
  <Application>Microsoft Office PowerPoint</Application>
  <PresentationFormat>Panorámica</PresentationFormat>
  <Paragraphs>279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Century Gothic</vt:lpstr>
      <vt:lpstr>Consolas</vt:lpstr>
      <vt:lpstr>Palatino Linotype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A. Antolino Hdez.</dc:creator>
  <cp:keywords/>
  <dc:description>generated using python-pptx</dc:description>
  <cp:lastModifiedBy>A. Antolino Hdez.</cp:lastModifiedBy>
  <cp:revision>11</cp:revision>
  <dcterms:created xsi:type="dcterms:W3CDTF">2013-01-27T09:14:16Z</dcterms:created>
  <dcterms:modified xsi:type="dcterms:W3CDTF">2026-10-20T04:43:15Z</dcterms:modified>
  <cp:category/>
</cp:coreProperties>
</file>